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310"/>
    <p:restoredTop sz="94586"/>
  </p:normalViewPr>
  <p:slideViewPr>
    <p:cSldViewPr snapToGrid="0">
      <p:cViewPr>
        <p:scale>
          <a:sx n="77" d="100"/>
          <a:sy n="77" d="100"/>
        </p:scale>
        <p:origin x="1056" y="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C2D4F-FD1D-8B41-9B4A-67611040671A}" type="datetimeFigureOut">
              <a:rPr kumimoji="1" lang="zh-CN" altLang="en-US" smtClean="0"/>
              <a:t>2026/5/21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A44354-5E18-E646-B630-F0A1201756C1}" type="slidenum">
              <a:rPr kumimoji="1" lang="zh-CN" altLang="en-US" smtClean="0"/>
              <a:t>‹#›</a:t>
            </a:fld>
            <a:endParaRPr kumimoji="1" lang="zh-CN" altLang="en-US"/>
          </a:p>
        </p:txBody>
      </p:sp>
    </p:spTree>
    <p:extLst>
      <p:ext uri="{BB962C8B-B14F-4D97-AF65-F5344CB8AC3E}">
        <p14:creationId xmlns:p14="http://schemas.microsoft.com/office/powerpoint/2010/main" val="1948692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BA44354-5E18-E646-B630-F0A1201756C1}" type="slidenum">
              <a:rPr kumimoji="1" lang="zh-CN" altLang="en-US" smtClean="0"/>
              <a:t>7</a:t>
            </a:fld>
            <a:endParaRPr kumimoji="1" lang="zh-CN" altLang="en-US"/>
          </a:p>
        </p:txBody>
      </p:sp>
    </p:spTree>
    <p:extLst>
      <p:ext uri="{BB962C8B-B14F-4D97-AF65-F5344CB8AC3E}">
        <p14:creationId xmlns:p14="http://schemas.microsoft.com/office/powerpoint/2010/main" val="1351926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503949-0AC0-A903-5AE1-BBC109FA4197}"/>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A52AA79-CEAC-1474-6030-0F8188DA0C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CE7504A-E0A8-4A7A-4178-FE31018E1865}"/>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5" name="页脚占位符 4">
            <a:extLst>
              <a:ext uri="{FF2B5EF4-FFF2-40B4-BE49-F238E27FC236}">
                <a16:creationId xmlns:a16="http://schemas.microsoft.com/office/drawing/2014/main" id="{67CB2E5F-18B8-EBE7-D533-35ED4B1EED8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5D25B04-A225-112E-D2C8-318FFCD8F1F9}"/>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1221625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67B6D9-3D65-5B5F-B218-4C122D8438B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A5E1E16-646A-AD53-7F9C-44ABFBA2751A}"/>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7DF2B91-ED55-7D26-9AFE-74073AFE12E7}"/>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5" name="页脚占位符 4">
            <a:extLst>
              <a:ext uri="{FF2B5EF4-FFF2-40B4-BE49-F238E27FC236}">
                <a16:creationId xmlns:a16="http://schemas.microsoft.com/office/drawing/2014/main" id="{C7724174-D288-0AC1-2C3D-0990880EBC5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C0733B4-DE8F-8037-98D9-88CA90A3022C}"/>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2089663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A0150D-C147-64A8-41CB-768FA1C88A0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01558EF6-C8E0-A471-49C6-EB23A0935E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EC6A70DC-6B60-6BFE-F941-9934CFCD15A2}"/>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5" name="页脚占位符 4">
            <a:extLst>
              <a:ext uri="{FF2B5EF4-FFF2-40B4-BE49-F238E27FC236}">
                <a16:creationId xmlns:a16="http://schemas.microsoft.com/office/drawing/2014/main" id="{01A483AF-A85B-E765-25F2-472C88E7294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8980BAB-1C2B-7584-8F44-319CE09D6471}"/>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89828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756F9E-B205-2086-79DE-5259A72719C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79F5822-8AEE-A126-AA8C-F82E7D4BDD9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69294E8-4AC9-EC5C-1D14-B97D23138BC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FF4E610E-5696-CF1C-DF8F-D7AE3CD84D99}"/>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6" name="页脚占位符 5">
            <a:extLst>
              <a:ext uri="{FF2B5EF4-FFF2-40B4-BE49-F238E27FC236}">
                <a16:creationId xmlns:a16="http://schemas.microsoft.com/office/drawing/2014/main" id="{47BE40EC-1A84-9315-80B9-4712267C808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0651206-B18C-FD2D-51E3-FB4EC0F6632A}"/>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115426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9FC105-EFB8-E1CA-B04B-997432BC8F0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2C7BE39-0EF5-A961-5E83-A310C38351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152CB336-E0E4-5355-3F27-DAF2B8D3028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6DF93BC0-AD63-5FF2-04C1-CA62C87C5D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EB389DC-0F86-E8EF-14B9-8715BF2EC427}"/>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3F6F802-13A9-4364-097F-4CB7273BBAB2}"/>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8" name="页脚占位符 7">
            <a:extLst>
              <a:ext uri="{FF2B5EF4-FFF2-40B4-BE49-F238E27FC236}">
                <a16:creationId xmlns:a16="http://schemas.microsoft.com/office/drawing/2014/main" id="{F33927B0-252E-315A-6B38-1665E0272F90}"/>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A3EEE99-8898-4810-3237-9DAE6213BC0E}"/>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318140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ABF0AC-9270-487D-0DA4-4D861325E47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8DEAC98F-FCA4-9586-D863-8157DD11BD07}"/>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4" name="页脚占位符 3">
            <a:extLst>
              <a:ext uri="{FF2B5EF4-FFF2-40B4-BE49-F238E27FC236}">
                <a16:creationId xmlns:a16="http://schemas.microsoft.com/office/drawing/2014/main" id="{9E006408-E072-FE5C-7F74-55CE7890CBC5}"/>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AFF8331B-6EC8-BB86-9C42-A86B21BC3C35}"/>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983530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E50B656-AE12-F346-EEC4-928A16628D80}"/>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3" name="页脚占位符 2">
            <a:extLst>
              <a:ext uri="{FF2B5EF4-FFF2-40B4-BE49-F238E27FC236}">
                <a16:creationId xmlns:a16="http://schemas.microsoft.com/office/drawing/2014/main" id="{05DE0055-2238-F7D1-FC8E-E41E35EEFEC9}"/>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65314EC2-2BC4-9E4E-B566-BB0707D35E21}"/>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335862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758E1A-5DAC-B65A-D221-326BF2FB35E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E905F766-1298-E17D-AC80-54CD168587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66260BA-8232-0252-ED5B-7C8693235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F49B6F92-8EEE-B32D-CB69-D321F14ECC47}"/>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6" name="页脚占位符 5">
            <a:extLst>
              <a:ext uri="{FF2B5EF4-FFF2-40B4-BE49-F238E27FC236}">
                <a16:creationId xmlns:a16="http://schemas.microsoft.com/office/drawing/2014/main" id="{8BD042A1-6F3B-CFE8-4505-F98EABA47F4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37119EB-6B1F-0BC4-A88C-982E1DDE4914}"/>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402959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CF2776-456B-E5A1-9571-90693C2BE88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48417648-EBCA-A29D-5D23-E644881D88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BAA1E5C-3EBB-3989-0CC5-8CD07F901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F9AF2EC4-6CEE-12FD-4C0E-AEABC7EFA7AD}"/>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6" name="页脚占位符 5">
            <a:extLst>
              <a:ext uri="{FF2B5EF4-FFF2-40B4-BE49-F238E27FC236}">
                <a16:creationId xmlns:a16="http://schemas.microsoft.com/office/drawing/2014/main" id="{65657E97-22B7-395D-7B23-755BB1AF496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7A28310-B854-86C1-1078-E57AB8FDDA40}"/>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2182917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08A671-F6D4-7280-C16C-3DB57FB035C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3A99045-7DE8-DBAD-13AB-6BF69958AEE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3B87086-D537-9D6B-644D-DF1CC3FCA756}"/>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5" name="页脚占位符 4">
            <a:extLst>
              <a:ext uri="{FF2B5EF4-FFF2-40B4-BE49-F238E27FC236}">
                <a16:creationId xmlns:a16="http://schemas.microsoft.com/office/drawing/2014/main" id="{D2DA8381-73FA-F230-48D0-862B73F3242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7B0F52-0046-F57D-ED65-4DCDB8ACA0A3}"/>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303962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781E593-F0C1-D464-4C8B-0D27C744C24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DB0D24C-FD8E-F346-E249-813C9374493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D97D5BA-F516-B6FA-2C67-053A7300A499}"/>
              </a:ext>
            </a:extLst>
          </p:cNvPr>
          <p:cNvSpPr>
            <a:spLocks noGrp="1"/>
          </p:cNvSpPr>
          <p:nvPr>
            <p:ph type="dt" sz="half" idx="10"/>
          </p:nvPr>
        </p:nvSpPr>
        <p:spPr/>
        <p:txBody>
          <a:bodyPr/>
          <a:lstStyle/>
          <a:p>
            <a:fld id="{FF1799A4-8C90-B24E-A21F-BCF57E670D79}" type="datetimeFigureOut">
              <a:rPr kumimoji="1" lang="zh-CN" altLang="en-US" smtClean="0"/>
              <a:t>2026/5/21</a:t>
            </a:fld>
            <a:endParaRPr kumimoji="1" lang="zh-CN" altLang="en-US"/>
          </a:p>
        </p:txBody>
      </p:sp>
      <p:sp>
        <p:nvSpPr>
          <p:cNvPr id="5" name="页脚占位符 4">
            <a:extLst>
              <a:ext uri="{FF2B5EF4-FFF2-40B4-BE49-F238E27FC236}">
                <a16:creationId xmlns:a16="http://schemas.microsoft.com/office/drawing/2014/main" id="{5B60EECD-C886-2BB1-6384-D229AF5B6D2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440A4EB-37F4-399B-3CED-46667B25B92C}"/>
              </a:ext>
            </a:extLst>
          </p:cNvPr>
          <p:cNvSpPr>
            <a:spLocks noGrp="1"/>
          </p:cNvSpPr>
          <p:nvPr>
            <p:ph type="sldNum" sz="quarter" idx="12"/>
          </p:nvPr>
        </p:nvSpPr>
        <p:spPr/>
        <p:txBody>
          <a:body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269844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3C0945-B6E1-C9E5-21A5-358CE954A1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CB39099-F1DC-3327-E45B-EBD0FB7B0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987995E-5172-62BB-3C2C-54D6590314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1799A4-8C90-B24E-A21F-BCF57E670D79}" type="datetimeFigureOut">
              <a:rPr kumimoji="1" lang="zh-CN" altLang="en-US" smtClean="0"/>
              <a:t>2026/5/21</a:t>
            </a:fld>
            <a:endParaRPr kumimoji="1" lang="zh-CN" altLang="en-US"/>
          </a:p>
        </p:txBody>
      </p:sp>
      <p:sp>
        <p:nvSpPr>
          <p:cNvPr id="5" name="页脚占位符 4">
            <a:extLst>
              <a:ext uri="{FF2B5EF4-FFF2-40B4-BE49-F238E27FC236}">
                <a16:creationId xmlns:a16="http://schemas.microsoft.com/office/drawing/2014/main" id="{E73D9659-7BA9-FEEA-C49E-4ACA16E150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96BBAB62-7458-F05A-908D-985129A5F2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AAC3F-4C0A-D645-8CD6-A36EA9981D5B}" type="slidenum">
              <a:rPr kumimoji="1" lang="zh-CN" altLang="en-US" smtClean="0"/>
              <a:t>‹#›</a:t>
            </a:fld>
            <a:endParaRPr kumimoji="1" lang="zh-CN" altLang="en-US"/>
          </a:p>
        </p:txBody>
      </p:sp>
    </p:spTree>
    <p:extLst>
      <p:ext uri="{BB962C8B-B14F-4D97-AF65-F5344CB8AC3E}">
        <p14:creationId xmlns:p14="http://schemas.microsoft.com/office/powerpoint/2010/main" val="2135296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png"/><Relationship Id="rId7" Type="http://schemas.openxmlformats.org/officeDocument/2006/relationships/image" Target="../media/image12.sv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notesSlide" Target="../notesSlides/notesSlide1.xml"/><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5661E03F-55EE-7C9C-8F5E-E023F014DF42}"/>
              </a:ext>
            </a:extLst>
          </p:cNvPr>
          <p:cNvGrpSpPr/>
          <p:nvPr/>
        </p:nvGrpSpPr>
        <p:grpSpPr>
          <a:xfrm>
            <a:off x="1471961" y="943944"/>
            <a:ext cx="5091071" cy="2937668"/>
            <a:chOff x="1471961" y="943944"/>
            <a:chExt cx="5091071" cy="2937668"/>
          </a:xfrm>
        </p:grpSpPr>
        <p:pic>
          <p:nvPicPr>
            <p:cNvPr id="5" name="图片 4">
              <a:extLst>
                <a:ext uri="{FF2B5EF4-FFF2-40B4-BE49-F238E27FC236}">
                  <a16:creationId xmlns:a16="http://schemas.microsoft.com/office/drawing/2014/main" id="{FE47BD29-7FF0-2555-6858-3D7DA548E002}"/>
                </a:ext>
              </a:extLst>
            </p:cNvPr>
            <p:cNvPicPr>
              <a:picLocks noChangeAspect="1"/>
            </p:cNvPicPr>
            <p:nvPr/>
          </p:nvPicPr>
          <p:blipFill>
            <a:blip r:embed="rId2"/>
            <a:srcRect/>
            <a:stretch/>
          </p:blipFill>
          <p:spPr>
            <a:xfrm>
              <a:off x="1471961" y="943944"/>
              <a:ext cx="2109582" cy="2812776"/>
            </a:xfrm>
            <a:prstGeom prst="roundRect">
              <a:avLst>
                <a:gd name="adj" fmla="val 8594"/>
              </a:avLst>
            </a:prstGeom>
            <a:solidFill>
              <a:srgbClr val="FFFFFF">
                <a:shade val="85000"/>
              </a:srgbClr>
            </a:solidFill>
            <a:ln>
              <a:noFill/>
            </a:ln>
            <a:effectLst/>
          </p:spPr>
        </p:pic>
        <p:cxnSp>
          <p:nvCxnSpPr>
            <p:cNvPr id="7" name="直线连接符 6">
              <a:extLst>
                <a:ext uri="{FF2B5EF4-FFF2-40B4-BE49-F238E27FC236}">
                  <a16:creationId xmlns:a16="http://schemas.microsoft.com/office/drawing/2014/main" id="{9D904778-92A5-A986-AD72-80F1026F0A2F}"/>
                </a:ext>
              </a:extLst>
            </p:cNvPr>
            <p:cNvCxnSpPr>
              <a:cxnSpLocks/>
            </p:cNvCxnSpPr>
            <p:nvPr/>
          </p:nvCxnSpPr>
          <p:spPr>
            <a:xfrm>
              <a:off x="3768213" y="1019290"/>
              <a:ext cx="0" cy="2662084"/>
            </a:xfrm>
            <a:prstGeom prst="line">
              <a:avLst/>
            </a:prstGeom>
            <a:ln>
              <a:solidFill>
                <a:schemeClr val="dk1"/>
              </a:solidFill>
              <a:prstDash val="sysDash"/>
            </a:ln>
          </p:spPr>
          <p:style>
            <a:lnRef idx="3">
              <a:schemeClr val="dk1"/>
            </a:lnRef>
            <a:fillRef idx="0">
              <a:schemeClr val="dk1"/>
            </a:fillRef>
            <a:effectRef idx="2">
              <a:schemeClr val="dk1"/>
            </a:effectRef>
            <a:fontRef idx="minor">
              <a:schemeClr val="tx1"/>
            </a:fontRef>
          </p:style>
        </p:cxnSp>
        <p:sp>
          <p:nvSpPr>
            <p:cNvPr id="9" name="文本框 8">
              <a:extLst>
                <a:ext uri="{FF2B5EF4-FFF2-40B4-BE49-F238E27FC236}">
                  <a16:creationId xmlns:a16="http://schemas.microsoft.com/office/drawing/2014/main" id="{384C9ED4-B1F7-142D-F530-138F58FD33F0}"/>
                </a:ext>
              </a:extLst>
            </p:cNvPr>
            <p:cNvSpPr txBox="1"/>
            <p:nvPr/>
          </p:nvSpPr>
          <p:spPr>
            <a:xfrm>
              <a:off x="3954884" y="1019290"/>
              <a:ext cx="2608148" cy="2862322"/>
            </a:xfrm>
            <a:prstGeom prst="rect">
              <a:avLst/>
            </a:prstGeom>
            <a:noFill/>
          </p:spPr>
          <p:txBody>
            <a:bodyPr wrap="square" rtlCol="0">
              <a:spAutoFit/>
            </a:bodyPr>
            <a:lstStyle/>
            <a:p>
              <a:r>
                <a:rPr lang="en" altLang="zh-CN" dirty="0">
                  <a:latin typeface="Times New Roman" panose="02020603050405020304" pitchFamily="18" charset="0"/>
                  <a:cs typeface="Times New Roman" panose="02020603050405020304" pitchFamily="18" charset="0"/>
                </a:rPr>
                <a:t>A round clock mounted on a pole beside a city </a:t>
              </a:r>
              <a:r>
                <a:rPr lang="en" altLang="zh-CN" dirty="0" err="1">
                  <a:latin typeface="Times New Roman" panose="02020603050405020304" pitchFamily="18" charset="0"/>
                  <a:cs typeface="Times New Roman" panose="02020603050405020304" pitchFamily="18" charset="0"/>
                </a:rPr>
                <a:t>street.The</a:t>
              </a:r>
              <a:r>
                <a:rPr lang="en" altLang="zh-CN" dirty="0">
                  <a:latin typeface="Times New Roman" panose="02020603050405020304" pitchFamily="18" charset="0"/>
                  <a:cs typeface="Times New Roman" panose="02020603050405020304" pitchFamily="18" charset="0"/>
                </a:rPr>
                <a:t> model correctly identifies the clock but may hallucinate incorrect </a:t>
              </a:r>
              <a:r>
                <a:rPr lang="en" altLang="zh-CN" dirty="0" err="1">
                  <a:latin typeface="Times New Roman" panose="02020603050405020304" pitchFamily="18" charset="0"/>
                  <a:cs typeface="Times New Roman" panose="02020603050405020304" pitchFamily="18" charset="0"/>
                </a:rPr>
                <a:t>attributes,such</a:t>
              </a:r>
              <a:r>
                <a:rPr lang="en" altLang="zh-CN" dirty="0">
                  <a:latin typeface="Times New Roman" panose="02020603050405020304" pitchFamily="18" charset="0"/>
                  <a:cs typeface="Times New Roman" panose="02020603050405020304" pitchFamily="18" charset="0"/>
                </a:rPr>
                <a:t> as describing it as square or misreporting the color and hand positions.</a:t>
              </a:r>
            </a:p>
            <a:p>
              <a:endParaRPr kumimoji="1" lang="zh-CN" altLang="en-US" dirty="0"/>
            </a:p>
          </p:txBody>
        </p:sp>
      </p:grpSp>
    </p:spTree>
    <p:extLst>
      <p:ext uri="{BB962C8B-B14F-4D97-AF65-F5344CB8AC3E}">
        <p14:creationId xmlns:p14="http://schemas.microsoft.com/office/powerpoint/2010/main" val="216038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7C862-A6A6-DABA-FDD1-1E93D68FD721}"/>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C286622C-EBB6-E6CF-A586-E7AEC9B4CA7A}"/>
              </a:ext>
            </a:extLst>
          </p:cNvPr>
          <p:cNvGrpSpPr/>
          <p:nvPr/>
        </p:nvGrpSpPr>
        <p:grpSpPr>
          <a:xfrm>
            <a:off x="1471961" y="943944"/>
            <a:ext cx="5696247" cy="2937668"/>
            <a:chOff x="1471961" y="943944"/>
            <a:chExt cx="5696247" cy="2937668"/>
          </a:xfrm>
        </p:grpSpPr>
        <p:pic>
          <p:nvPicPr>
            <p:cNvPr id="5" name="图片 4">
              <a:extLst>
                <a:ext uri="{FF2B5EF4-FFF2-40B4-BE49-F238E27FC236}">
                  <a16:creationId xmlns:a16="http://schemas.microsoft.com/office/drawing/2014/main" id="{22A26C44-DEC8-2005-9D86-5512C07A1130}"/>
                </a:ext>
              </a:extLst>
            </p:cNvPr>
            <p:cNvPicPr>
              <a:picLocks noChangeAspect="1"/>
            </p:cNvPicPr>
            <p:nvPr/>
          </p:nvPicPr>
          <p:blipFill>
            <a:blip r:embed="rId2"/>
            <a:stretch>
              <a:fillRect/>
            </a:stretch>
          </p:blipFill>
          <p:spPr>
            <a:xfrm>
              <a:off x="1471961" y="943944"/>
              <a:ext cx="2109582" cy="2812776"/>
            </a:xfrm>
            <a:prstGeom prst="roundRect">
              <a:avLst>
                <a:gd name="adj" fmla="val 8594"/>
              </a:avLst>
            </a:prstGeom>
            <a:solidFill>
              <a:srgbClr val="FFFFFF">
                <a:shade val="85000"/>
              </a:srgbClr>
            </a:solidFill>
            <a:ln>
              <a:noFill/>
            </a:ln>
            <a:effectLst/>
          </p:spPr>
        </p:pic>
        <p:cxnSp>
          <p:nvCxnSpPr>
            <p:cNvPr id="7" name="直线连接符 6">
              <a:extLst>
                <a:ext uri="{FF2B5EF4-FFF2-40B4-BE49-F238E27FC236}">
                  <a16:creationId xmlns:a16="http://schemas.microsoft.com/office/drawing/2014/main" id="{5C77E820-A7D4-2759-3DD4-72DC79F6D2E9}"/>
                </a:ext>
              </a:extLst>
            </p:cNvPr>
            <p:cNvCxnSpPr>
              <a:cxnSpLocks/>
            </p:cNvCxnSpPr>
            <p:nvPr/>
          </p:nvCxnSpPr>
          <p:spPr>
            <a:xfrm>
              <a:off x="3768213" y="1019290"/>
              <a:ext cx="0" cy="2662084"/>
            </a:xfrm>
            <a:prstGeom prst="line">
              <a:avLst/>
            </a:prstGeom>
            <a:ln>
              <a:solidFill>
                <a:schemeClr val="dk1"/>
              </a:solidFill>
              <a:prstDash val="sysDash"/>
            </a:ln>
          </p:spPr>
          <p:style>
            <a:lnRef idx="3">
              <a:schemeClr val="dk1"/>
            </a:lnRef>
            <a:fillRef idx="0">
              <a:schemeClr val="dk1"/>
            </a:fillRef>
            <a:effectRef idx="2">
              <a:schemeClr val="dk1"/>
            </a:effectRef>
            <a:fontRef idx="minor">
              <a:schemeClr val="tx1"/>
            </a:fontRef>
          </p:style>
        </p:cxnSp>
        <p:sp>
          <p:nvSpPr>
            <p:cNvPr id="9" name="文本框 8">
              <a:extLst>
                <a:ext uri="{FF2B5EF4-FFF2-40B4-BE49-F238E27FC236}">
                  <a16:creationId xmlns:a16="http://schemas.microsoft.com/office/drawing/2014/main" id="{0703BAEA-F016-0ECB-6AF4-D497758423E8}"/>
                </a:ext>
              </a:extLst>
            </p:cNvPr>
            <p:cNvSpPr txBox="1"/>
            <p:nvPr/>
          </p:nvSpPr>
          <p:spPr>
            <a:xfrm>
              <a:off x="3954884" y="1019290"/>
              <a:ext cx="3213324" cy="2862322"/>
            </a:xfrm>
            <a:prstGeom prst="rect">
              <a:avLst/>
            </a:prstGeom>
            <a:noFill/>
          </p:spPr>
          <p:txBody>
            <a:bodyPr wrap="square" rtlCol="0">
              <a:spAutoFit/>
            </a:bodyPr>
            <a:lstStyle/>
            <a:p>
              <a:r>
                <a:rPr lang="en" altLang="zh-CN" dirty="0">
                  <a:latin typeface="Times New Roman" panose="02020603050405020304" pitchFamily="18" charset="0"/>
                  <a:cs typeface="Times New Roman" panose="02020603050405020304" pitchFamily="18" charset="0"/>
                </a:rPr>
                <a:t>An image of a husky lying on a </a:t>
              </a:r>
              <a:r>
                <a:rPr lang="en" altLang="zh-CN" dirty="0" err="1">
                  <a:latin typeface="Times New Roman" panose="02020603050405020304" pitchFamily="18" charset="0"/>
                  <a:cs typeface="Times New Roman" panose="02020603050405020304" pitchFamily="18" charset="0"/>
                </a:rPr>
                <a:t>couch.Object</a:t>
              </a:r>
              <a:r>
                <a:rPr lang="en" altLang="zh-CN" dirty="0">
                  <a:latin typeface="Times New Roman" panose="02020603050405020304" pitchFamily="18" charset="0"/>
                  <a:cs typeface="Times New Roman" panose="02020603050405020304" pitchFamily="18" charset="0"/>
                </a:rPr>
                <a:t>-level faithfulness hallucinations include</a:t>
              </a:r>
              <a:r>
                <a:rPr lang="zh-CN" altLang="en-US" dirty="0">
                  <a:latin typeface="Times New Roman" panose="02020603050405020304" pitchFamily="18" charset="0"/>
                  <a:cs typeface="Times New Roman" panose="02020603050405020304" pitchFamily="18" charset="0"/>
                </a:rPr>
                <a:t> </a:t>
              </a:r>
              <a:r>
                <a:rPr lang="en" altLang="zh-CN" dirty="0">
                  <a:latin typeface="Times New Roman" panose="02020603050405020304" pitchFamily="18" charset="0"/>
                  <a:cs typeface="Times New Roman" panose="02020603050405020304" pitchFamily="18" charset="0"/>
                </a:rPr>
                <a:t>category substitution (reporting a cat instead of a dog),object omission (claiming no animal is present),and existence misjudgment (affirming the presence of a non-existent object.</a:t>
              </a:r>
            </a:p>
            <a:p>
              <a:endParaRPr kumimoji="1" lang="zh-CN" altLang="en-US" dirty="0"/>
            </a:p>
          </p:txBody>
        </p:sp>
      </p:grpSp>
    </p:spTree>
    <p:extLst>
      <p:ext uri="{BB962C8B-B14F-4D97-AF65-F5344CB8AC3E}">
        <p14:creationId xmlns:p14="http://schemas.microsoft.com/office/powerpoint/2010/main" val="1941918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F2D77-0C28-F883-24F7-218C24A17BAA}"/>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7436D65D-DB0C-FA0B-8030-F9F2B8EA2892}"/>
              </a:ext>
            </a:extLst>
          </p:cNvPr>
          <p:cNvGrpSpPr/>
          <p:nvPr/>
        </p:nvGrpSpPr>
        <p:grpSpPr>
          <a:xfrm>
            <a:off x="1471961" y="943944"/>
            <a:ext cx="5622007" cy="2937668"/>
            <a:chOff x="1471961" y="943944"/>
            <a:chExt cx="5622007" cy="2937668"/>
          </a:xfrm>
        </p:grpSpPr>
        <p:pic>
          <p:nvPicPr>
            <p:cNvPr id="5" name="图片 4">
              <a:extLst>
                <a:ext uri="{FF2B5EF4-FFF2-40B4-BE49-F238E27FC236}">
                  <a16:creationId xmlns:a16="http://schemas.microsoft.com/office/drawing/2014/main" id="{83D2B6B5-3846-B4CC-0CDD-C57892C0A3E4}"/>
                </a:ext>
              </a:extLst>
            </p:cNvPr>
            <p:cNvPicPr>
              <a:picLocks noChangeAspect="1"/>
            </p:cNvPicPr>
            <p:nvPr/>
          </p:nvPicPr>
          <p:blipFill>
            <a:blip r:embed="rId2"/>
            <a:srcRect/>
            <a:stretch/>
          </p:blipFill>
          <p:spPr>
            <a:xfrm>
              <a:off x="1471961" y="943944"/>
              <a:ext cx="2109582" cy="2812776"/>
            </a:xfrm>
            <a:prstGeom prst="roundRect">
              <a:avLst>
                <a:gd name="adj" fmla="val 8594"/>
              </a:avLst>
            </a:prstGeom>
            <a:solidFill>
              <a:srgbClr val="FFFFFF">
                <a:shade val="85000"/>
              </a:srgbClr>
            </a:solidFill>
            <a:ln>
              <a:noFill/>
            </a:ln>
            <a:effectLst/>
          </p:spPr>
        </p:pic>
        <p:cxnSp>
          <p:nvCxnSpPr>
            <p:cNvPr id="7" name="直线连接符 6">
              <a:extLst>
                <a:ext uri="{FF2B5EF4-FFF2-40B4-BE49-F238E27FC236}">
                  <a16:creationId xmlns:a16="http://schemas.microsoft.com/office/drawing/2014/main" id="{010C321F-683E-5812-1066-97F84DD89AE0}"/>
                </a:ext>
              </a:extLst>
            </p:cNvPr>
            <p:cNvCxnSpPr>
              <a:cxnSpLocks/>
            </p:cNvCxnSpPr>
            <p:nvPr/>
          </p:nvCxnSpPr>
          <p:spPr>
            <a:xfrm>
              <a:off x="3768213" y="1019290"/>
              <a:ext cx="0" cy="2662084"/>
            </a:xfrm>
            <a:prstGeom prst="line">
              <a:avLst/>
            </a:prstGeom>
            <a:ln>
              <a:solidFill>
                <a:schemeClr val="dk1"/>
              </a:solidFill>
              <a:prstDash val="sysDash"/>
            </a:ln>
          </p:spPr>
          <p:style>
            <a:lnRef idx="3">
              <a:schemeClr val="dk1"/>
            </a:lnRef>
            <a:fillRef idx="0">
              <a:schemeClr val="dk1"/>
            </a:fillRef>
            <a:effectRef idx="2">
              <a:schemeClr val="dk1"/>
            </a:effectRef>
            <a:fontRef idx="minor">
              <a:schemeClr val="tx1"/>
            </a:fontRef>
          </p:style>
        </p:cxnSp>
        <p:sp>
          <p:nvSpPr>
            <p:cNvPr id="9" name="文本框 8">
              <a:extLst>
                <a:ext uri="{FF2B5EF4-FFF2-40B4-BE49-F238E27FC236}">
                  <a16:creationId xmlns:a16="http://schemas.microsoft.com/office/drawing/2014/main" id="{5053B0DB-C5FF-48A9-A7F6-3FFAE535D5CE}"/>
                </a:ext>
              </a:extLst>
            </p:cNvPr>
            <p:cNvSpPr txBox="1"/>
            <p:nvPr/>
          </p:nvSpPr>
          <p:spPr>
            <a:xfrm>
              <a:off x="3954884" y="1019290"/>
              <a:ext cx="3139084" cy="2862322"/>
            </a:xfrm>
            <a:prstGeom prst="rect">
              <a:avLst/>
            </a:prstGeom>
            <a:noFill/>
          </p:spPr>
          <p:txBody>
            <a:bodyPr wrap="square" rtlCol="0">
              <a:spAutoFit/>
            </a:bodyPr>
            <a:lstStyle/>
            <a:p>
              <a:r>
                <a:rPr lang="en" altLang="zh-CN" dirty="0">
                  <a:latin typeface="Times New Roman" panose="02020603050405020304" pitchFamily="18" charset="0"/>
                  <a:cs typeface="Times New Roman" panose="02020603050405020304" pitchFamily="18" charset="0"/>
                </a:rPr>
                <a:t>A kitchen countertop with a knife on a cutting board, a tequila bottle to the left of a </a:t>
              </a:r>
              <a:r>
                <a:rPr lang="en" altLang="zh-CN" dirty="0" err="1">
                  <a:latin typeface="Times New Roman" panose="02020603050405020304" pitchFamily="18" charset="0"/>
                  <a:cs typeface="Times New Roman" panose="02020603050405020304" pitchFamily="18" charset="0"/>
                </a:rPr>
                <a:t>blender,and</a:t>
              </a:r>
              <a:r>
                <a:rPr lang="en" altLang="zh-CN" dirty="0">
                  <a:latin typeface="Times New Roman" panose="02020603050405020304" pitchFamily="18" charset="0"/>
                  <a:cs typeface="Times New Roman" panose="02020603050405020304" pitchFamily="18" charset="0"/>
                </a:rPr>
                <a:t> a glass to the </a:t>
              </a:r>
              <a:r>
                <a:rPr lang="en" altLang="zh-CN" dirty="0" err="1">
                  <a:latin typeface="Times New Roman" panose="02020603050405020304" pitchFamily="18" charset="0"/>
                  <a:cs typeface="Times New Roman" panose="02020603050405020304" pitchFamily="18" charset="0"/>
                </a:rPr>
                <a:t>right.Scene</a:t>
              </a:r>
              <a:r>
                <a:rPr lang="en" altLang="zh-CN" dirty="0">
                  <a:latin typeface="Times New Roman" panose="02020603050405020304" pitchFamily="18" charset="0"/>
                  <a:cs typeface="Times New Roman" panose="02020603050405020304" pitchFamily="18" charset="0"/>
                </a:rPr>
                <a:t>-level hallucinations involve incorrect spatial relations or fabricated interactions between correctly identified objects.</a:t>
              </a:r>
            </a:p>
            <a:p>
              <a:endParaRPr kumimoji="1" lang="zh-CN" altLang="en-US" dirty="0"/>
            </a:p>
          </p:txBody>
        </p:sp>
      </p:grpSp>
    </p:spTree>
    <p:extLst>
      <p:ext uri="{BB962C8B-B14F-4D97-AF65-F5344CB8AC3E}">
        <p14:creationId xmlns:p14="http://schemas.microsoft.com/office/powerpoint/2010/main" val="3818954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38152-2CD2-87F5-D54D-C94BE15600FD}"/>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A2D601DA-B6A0-7F0E-587E-39938AC90F32}"/>
              </a:ext>
            </a:extLst>
          </p:cNvPr>
          <p:cNvGrpSpPr/>
          <p:nvPr/>
        </p:nvGrpSpPr>
        <p:grpSpPr>
          <a:xfrm>
            <a:off x="1471961" y="943944"/>
            <a:ext cx="5622007" cy="2937668"/>
            <a:chOff x="1471961" y="943944"/>
            <a:chExt cx="5622007" cy="2937668"/>
          </a:xfrm>
        </p:grpSpPr>
        <p:pic>
          <p:nvPicPr>
            <p:cNvPr id="5" name="图片 4">
              <a:extLst>
                <a:ext uri="{FF2B5EF4-FFF2-40B4-BE49-F238E27FC236}">
                  <a16:creationId xmlns:a16="http://schemas.microsoft.com/office/drawing/2014/main" id="{5FAD39E4-A5D4-ED03-AFB0-B02A19CEACDB}"/>
                </a:ext>
              </a:extLst>
            </p:cNvPr>
            <p:cNvPicPr>
              <a:picLocks noChangeAspect="1"/>
            </p:cNvPicPr>
            <p:nvPr/>
          </p:nvPicPr>
          <p:blipFill>
            <a:blip r:embed="rId2"/>
            <a:srcRect l="24922" r="24922"/>
            <a:stretch/>
          </p:blipFill>
          <p:spPr>
            <a:xfrm>
              <a:off x="1471961" y="943944"/>
              <a:ext cx="2109582" cy="2812776"/>
            </a:xfrm>
            <a:prstGeom prst="roundRect">
              <a:avLst>
                <a:gd name="adj" fmla="val 8594"/>
              </a:avLst>
            </a:prstGeom>
            <a:solidFill>
              <a:srgbClr val="FFFFFF">
                <a:shade val="85000"/>
              </a:srgbClr>
            </a:solidFill>
            <a:ln>
              <a:noFill/>
            </a:ln>
            <a:effectLst/>
          </p:spPr>
        </p:pic>
        <p:cxnSp>
          <p:nvCxnSpPr>
            <p:cNvPr id="7" name="直线连接符 6">
              <a:extLst>
                <a:ext uri="{FF2B5EF4-FFF2-40B4-BE49-F238E27FC236}">
                  <a16:creationId xmlns:a16="http://schemas.microsoft.com/office/drawing/2014/main" id="{E638D476-B3FA-8CC0-C32E-61403864DE47}"/>
                </a:ext>
              </a:extLst>
            </p:cNvPr>
            <p:cNvCxnSpPr>
              <a:cxnSpLocks/>
            </p:cNvCxnSpPr>
            <p:nvPr/>
          </p:nvCxnSpPr>
          <p:spPr>
            <a:xfrm>
              <a:off x="3768213" y="1019290"/>
              <a:ext cx="0" cy="2662084"/>
            </a:xfrm>
            <a:prstGeom prst="line">
              <a:avLst/>
            </a:prstGeom>
            <a:ln>
              <a:solidFill>
                <a:schemeClr val="dk1"/>
              </a:solidFill>
              <a:prstDash val="sysDash"/>
            </a:ln>
          </p:spPr>
          <p:style>
            <a:lnRef idx="3">
              <a:schemeClr val="dk1"/>
            </a:lnRef>
            <a:fillRef idx="0">
              <a:schemeClr val="dk1"/>
            </a:fillRef>
            <a:effectRef idx="2">
              <a:schemeClr val="dk1"/>
            </a:effectRef>
            <a:fontRef idx="minor">
              <a:schemeClr val="tx1"/>
            </a:fontRef>
          </p:style>
        </p:cxnSp>
        <p:sp>
          <p:nvSpPr>
            <p:cNvPr id="9" name="文本框 8">
              <a:extLst>
                <a:ext uri="{FF2B5EF4-FFF2-40B4-BE49-F238E27FC236}">
                  <a16:creationId xmlns:a16="http://schemas.microsoft.com/office/drawing/2014/main" id="{7DB9D12C-AE9A-4EA7-F8FE-287D3FB90088}"/>
                </a:ext>
              </a:extLst>
            </p:cNvPr>
            <p:cNvSpPr txBox="1"/>
            <p:nvPr/>
          </p:nvSpPr>
          <p:spPr>
            <a:xfrm>
              <a:off x="3954884" y="1019290"/>
              <a:ext cx="3139084" cy="2862322"/>
            </a:xfrm>
            <a:prstGeom prst="rect">
              <a:avLst/>
            </a:prstGeom>
            <a:noFill/>
          </p:spPr>
          <p:txBody>
            <a:bodyPr wrap="square" rtlCol="0">
              <a:spAutoFit/>
            </a:bodyPr>
            <a:lstStyle/>
            <a:p>
              <a:r>
                <a:rPr lang="en" altLang="zh-CN" dirty="0">
                  <a:latin typeface="Times New Roman" panose="02020603050405020304" pitchFamily="18" charset="0"/>
                  <a:cs typeface="Times New Roman" panose="02020603050405020304" pitchFamily="18" charset="0"/>
                </a:rPr>
                <a:t>An image showing zebras and </a:t>
              </a:r>
              <a:r>
                <a:rPr lang="en" altLang="zh-CN" dirty="0" err="1">
                  <a:latin typeface="Times New Roman" panose="02020603050405020304" pitchFamily="18" charset="0"/>
                  <a:cs typeface="Times New Roman" panose="02020603050405020304" pitchFamily="18" charset="0"/>
                </a:rPr>
                <a:t>giraffes.Commonsense</a:t>
              </a:r>
              <a:r>
                <a:rPr lang="en" altLang="zh-CN" dirty="0">
                  <a:latin typeface="Times New Roman" panose="02020603050405020304" pitchFamily="18" charset="0"/>
                  <a:cs typeface="Times New Roman" panose="02020603050405020304" pitchFamily="18" charset="0"/>
                </a:rPr>
                <a:t> factuality hallucinations arise when the model's roughly correct visual perception leads to outputs that contradict basic biological </a:t>
              </a:r>
              <a:r>
                <a:rPr lang="en" altLang="zh-CN" dirty="0" err="1">
                  <a:latin typeface="Times New Roman" panose="02020603050405020304" pitchFamily="18" charset="0"/>
                  <a:cs typeface="Times New Roman" panose="02020603050405020304" pitchFamily="18" charset="0"/>
                </a:rPr>
                <a:t>knowledge,such</a:t>
              </a:r>
              <a:r>
                <a:rPr lang="en" altLang="zh-CN" dirty="0">
                  <a:latin typeface="Times New Roman" panose="02020603050405020304" pitchFamily="18" charset="0"/>
                  <a:cs typeface="Times New Roman" panose="02020603050405020304" pitchFamily="18" charset="0"/>
                </a:rPr>
                <a:t> as misidentifying a zebra as a painted horse.</a:t>
              </a:r>
            </a:p>
            <a:p>
              <a:endParaRPr kumimoji="1" lang="zh-CN" altLang="en-US" dirty="0"/>
            </a:p>
          </p:txBody>
        </p:sp>
      </p:grpSp>
    </p:spTree>
    <p:extLst>
      <p:ext uri="{BB962C8B-B14F-4D97-AF65-F5344CB8AC3E}">
        <p14:creationId xmlns:p14="http://schemas.microsoft.com/office/powerpoint/2010/main" val="2414580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3FE15-AFDD-5509-B246-A7364D468AFF}"/>
            </a:ext>
          </a:extLst>
        </p:cNvPr>
        <p:cNvGrpSpPr/>
        <p:nvPr/>
      </p:nvGrpSpPr>
      <p:grpSpPr>
        <a:xfrm>
          <a:off x="0" y="0"/>
          <a:ext cx="0" cy="0"/>
          <a:chOff x="0" y="0"/>
          <a:chExt cx="0" cy="0"/>
        </a:xfrm>
      </p:grpSpPr>
      <p:grpSp>
        <p:nvGrpSpPr>
          <p:cNvPr id="10" name="组合 9">
            <a:extLst>
              <a:ext uri="{FF2B5EF4-FFF2-40B4-BE49-F238E27FC236}">
                <a16:creationId xmlns:a16="http://schemas.microsoft.com/office/drawing/2014/main" id="{4984BF8D-5229-1EBE-DE14-16014C115032}"/>
              </a:ext>
            </a:extLst>
          </p:cNvPr>
          <p:cNvGrpSpPr/>
          <p:nvPr/>
        </p:nvGrpSpPr>
        <p:grpSpPr>
          <a:xfrm>
            <a:off x="1471961" y="943944"/>
            <a:ext cx="5564449" cy="2937668"/>
            <a:chOff x="1471961" y="943944"/>
            <a:chExt cx="5564449" cy="2937668"/>
          </a:xfrm>
        </p:grpSpPr>
        <p:pic>
          <p:nvPicPr>
            <p:cNvPr id="5" name="图片 4">
              <a:extLst>
                <a:ext uri="{FF2B5EF4-FFF2-40B4-BE49-F238E27FC236}">
                  <a16:creationId xmlns:a16="http://schemas.microsoft.com/office/drawing/2014/main" id="{BBDD3944-D8D6-971F-D93F-4A37C08BE408}"/>
                </a:ext>
              </a:extLst>
            </p:cNvPr>
            <p:cNvPicPr>
              <a:picLocks noChangeAspect="1"/>
            </p:cNvPicPr>
            <p:nvPr/>
          </p:nvPicPr>
          <p:blipFill>
            <a:blip r:embed="rId2"/>
            <a:srcRect l="12500" r="12500"/>
            <a:stretch/>
          </p:blipFill>
          <p:spPr>
            <a:xfrm>
              <a:off x="1471961" y="943944"/>
              <a:ext cx="2109582" cy="2812776"/>
            </a:xfrm>
            <a:prstGeom prst="roundRect">
              <a:avLst>
                <a:gd name="adj" fmla="val 8594"/>
              </a:avLst>
            </a:prstGeom>
            <a:solidFill>
              <a:srgbClr val="FFFFFF">
                <a:shade val="85000"/>
              </a:srgbClr>
            </a:solidFill>
            <a:ln>
              <a:noFill/>
            </a:ln>
            <a:effectLst/>
          </p:spPr>
        </p:pic>
        <p:cxnSp>
          <p:nvCxnSpPr>
            <p:cNvPr id="7" name="直线连接符 6">
              <a:extLst>
                <a:ext uri="{FF2B5EF4-FFF2-40B4-BE49-F238E27FC236}">
                  <a16:creationId xmlns:a16="http://schemas.microsoft.com/office/drawing/2014/main" id="{B162F669-ECC7-B7D4-49E9-264265A210BD}"/>
                </a:ext>
              </a:extLst>
            </p:cNvPr>
            <p:cNvCxnSpPr>
              <a:cxnSpLocks/>
            </p:cNvCxnSpPr>
            <p:nvPr/>
          </p:nvCxnSpPr>
          <p:spPr>
            <a:xfrm>
              <a:off x="3768213" y="1019290"/>
              <a:ext cx="0" cy="2662084"/>
            </a:xfrm>
            <a:prstGeom prst="line">
              <a:avLst/>
            </a:prstGeom>
            <a:ln>
              <a:solidFill>
                <a:schemeClr val="dk1"/>
              </a:solidFill>
              <a:prstDash val="sysDash"/>
            </a:ln>
          </p:spPr>
          <p:style>
            <a:lnRef idx="3">
              <a:schemeClr val="dk1"/>
            </a:lnRef>
            <a:fillRef idx="0">
              <a:schemeClr val="dk1"/>
            </a:fillRef>
            <a:effectRef idx="2">
              <a:schemeClr val="dk1"/>
            </a:effectRef>
            <a:fontRef idx="minor">
              <a:schemeClr val="tx1"/>
            </a:fontRef>
          </p:style>
        </p:cxnSp>
        <p:sp>
          <p:nvSpPr>
            <p:cNvPr id="9" name="文本框 8">
              <a:extLst>
                <a:ext uri="{FF2B5EF4-FFF2-40B4-BE49-F238E27FC236}">
                  <a16:creationId xmlns:a16="http://schemas.microsoft.com/office/drawing/2014/main" id="{F6671459-F9F4-67E9-9571-CB62C25A9F22}"/>
                </a:ext>
              </a:extLst>
            </p:cNvPr>
            <p:cNvSpPr txBox="1"/>
            <p:nvPr/>
          </p:nvSpPr>
          <p:spPr>
            <a:xfrm>
              <a:off x="3954883" y="1019290"/>
              <a:ext cx="3081527" cy="2862322"/>
            </a:xfrm>
            <a:prstGeom prst="rect">
              <a:avLst/>
            </a:prstGeom>
            <a:noFill/>
          </p:spPr>
          <p:txBody>
            <a:bodyPr wrap="square" rtlCol="0">
              <a:spAutoFit/>
            </a:bodyPr>
            <a:lstStyle/>
            <a:p>
              <a:r>
                <a:rPr lang="en" altLang="zh-CN" dirty="0">
                  <a:latin typeface="Times New Roman" panose="02020603050405020304" pitchFamily="18" charset="0"/>
                  <a:cs typeface="Times New Roman" panose="02020603050405020304" pitchFamily="18" charset="0"/>
                </a:rPr>
                <a:t>A chest X-ray with no obvious abnormalities in the lung fields.</a:t>
              </a:r>
            </a:p>
            <a:p>
              <a:r>
                <a:rPr lang="en" altLang="zh-CN" dirty="0">
                  <a:latin typeface="Times New Roman" panose="02020603050405020304" pitchFamily="18" charset="0"/>
                  <a:cs typeface="Times New Roman" panose="02020603050405020304" pitchFamily="18" charset="0"/>
                </a:rPr>
                <a:t>Domain-specific factuality hallucinations occur when the model fabricates findings such as pleural effusion or cardiomegaly that contradict the actual radiological evidence.</a:t>
              </a:r>
            </a:p>
            <a:p>
              <a:endParaRPr kumimoji="1" lang="zh-CN" altLang="en-US" dirty="0"/>
            </a:p>
          </p:txBody>
        </p:sp>
      </p:grpSp>
    </p:spTree>
    <p:extLst>
      <p:ext uri="{BB962C8B-B14F-4D97-AF65-F5344CB8AC3E}">
        <p14:creationId xmlns:p14="http://schemas.microsoft.com/office/powerpoint/2010/main" val="20078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BED2F-AA4B-D51A-9644-7C598B0091AB}"/>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29EDE7C1-CBE7-70AD-661D-C18D91E4ABAA}"/>
              </a:ext>
            </a:extLst>
          </p:cNvPr>
          <p:cNvGrpSpPr/>
          <p:nvPr/>
        </p:nvGrpSpPr>
        <p:grpSpPr>
          <a:xfrm>
            <a:off x="1467779" y="503663"/>
            <a:ext cx="6917935" cy="2862322"/>
            <a:chOff x="1467779" y="503663"/>
            <a:chExt cx="6917935" cy="2862322"/>
          </a:xfrm>
        </p:grpSpPr>
        <p:pic>
          <p:nvPicPr>
            <p:cNvPr id="3" name="图片 2">
              <a:extLst>
                <a:ext uri="{FF2B5EF4-FFF2-40B4-BE49-F238E27FC236}">
                  <a16:creationId xmlns:a16="http://schemas.microsoft.com/office/drawing/2014/main" id="{88ACB1E8-EEC9-0F4B-5D87-79C3E77F3964}"/>
                </a:ext>
              </a:extLst>
            </p:cNvPr>
            <p:cNvPicPr>
              <a:picLocks noChangeAspect="1"/>
            </p:cNvPicPr>
            <p:nvPr/>
          </p:nvPicPr>
          <p:blipFill>
            <a:blip r:embed="rId2"/>
            <a:stretch>
              <a:fillRect/>
            </a:stretch>
          </p:blipFill>
          <p:spPr>
            <a:xfrm>
              <a:off x="1467779" y="503663"/>
              <a:ext cx="3780884" cy="2668859"/>
            </a:xfrm>
            <a:prstGeom prst="roundRect">
              <a:avLst>
                <a:gd name="adj" fmla="val 8594"/>
              </a:avLst>
            </a:prstGeom>
            <a:solidFill>
              <a:srgbClr val="FFFFFF">
                <a:shade val="85000"/>
              </a:srgbClr>
            </a:solidFill>
            <a:ln>
              <a:noFill/>
            </a:ln>
            <a:effectLst/>
          </p:spPr>
        </p:pic>
        <p:cxnSp>
          <p:nvCxnSpPr>
            <p:cNvPr id="6" name="直线连接符 5">
              <a:extLst>
                <a:ext uri="{FF2B5EF4-FFF2-40B4-BE49-F238E27FC236}">
                  <a16:creationId xmlns:a16="http://schemas.microsoft.com/office/drawing/2014/main" id="{684AA0CA-EAD3-5359-D095-46902F0C0CE3}"/>
                </a:ext>
              </a:extLst>
            </p:cNvPr>
            <p:cNvCxnSpPr/>
            <p:nvPr/>
          </p:nvCxnSpPr>
          <p:spPr>
            <a:xfrm>
              <a:off x="5430644" y="503663"/>
              <a:ext cx="0" cy="2562922"/>
            </a:xfrm>
            <a:prstGeom prst="line">
              <a:avLst/>
            </a:prstGeom>
            <a:ln>
              <a:prstDash val="sysDash"/>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8" name="文本框 7">
              <a:extLst>
                <a:ext uri="{FF2B5EF4-FFF2-40B4-BE49-F238E27FC236}">
                  <a16:creationId xmlns:a16="http://schemas.microsoft.com/office/drawing/2014/main" id="{53FC7AD9-0901-D0B4-68FA-5AD6C28C3BAB}"/>
                </a:ext>
              </a:extLst>
            </p:cNvPr>
            <p:cNvSpPr txBox="1"/>
            <p:nvPr/>
          </p:nvSpPr>
          <p:spPr>
            <a:xfrm>
              <a:off x="5564460" y="503663"/>
              <a:ext cx="2821254" cy="2862322"/>
            </a:xfrm>
            <a:prstGeom prst="rect">
              <a:avLst/>
            </a:prstGeom>
            <a:noFill/>
          </p:spPr>
          <p:txBody>
            <a:bodyPr wrap="square" rtlCol="0">
              <a:spAutoFit/>
            </a:bodyPr>
            <a:lstStyle/>
            <a:p>
              <a:r>
                <a:rPr kumimoji="1" lang="en" altLang="zh-CN" dirty="0">
                  <a:latin typeface="Times New Roman" panose="02020603050405020304" pitchFamily="18" charset="0"/>
                  <a:cs typeface="Times New Roman" panose="02020603050405020304" pitchFamily="18" charset="0"/>
                </a:rPr>
                <a:t>A bar chart showing government expenditure percentages for Czechia, Paraguay, and </a:t>
              </a:r>
              <a:r>
                <a:rPr kumimoji="1" lang="en" altLang="zh-CN" dirty="0" err="1">
                  <a:latin typeface="Times New Roman" panose="02020603050405020304" pitchFamily="18" charset="0"/>
                  <a:cs typeface="Times New Roman" panose="02020603050405020304" pitchFamily="18" charset="0"/>
                </a:rPr>
                <a:t>Laos.The</a:t>
              </a:r>
              <a:r>
                <a:rPr kumimoji="1" lang="en" altLang="zh-CN" dirty="0">
                  <a:latin typeface="Times New Roman" panose="02020603050405020304" pitchFamily="18" charset="0"/>
                  <a:cs typeface="Times New Roman" panose="02020603050405020304" pitchFamily="18" charset="0"/>
                </a:rPr>
                <a:t> model correctly reads the bar values but errs in the comparison </a:t>
              </a:r>
              <a:r>
                <a:rPr kumimoji="1" lang="en" altLang="zh-CN" dirty="0" err="1">
                  <a:latin typeface="Times New Roman" panose="02020603050405020304" pitchFamily="18" charset="0"/>
                  <a:cs typeface="Times New Roman" panose="02020603050405020304" pitchFamily="18" charset="0"/>
                </a:rPr>
                <a:t>step,producing</a:t>
              </a:r>
              <a:r>
                <a:rPr kumimoji="1" lang="en" altLang="zh-CN" dirty="0">
                  <a:latin typeface="Times New Roman" panose="02020603050405020304" pitchFamily="18" charset="0"/>
                  <a:cs typeface="Times New Roman" panose="02020603050405020304" pitchFamily="18" charset="0"/>
                </a:rPr>
                <a:t> a conclusion that contradicts its own extracted evidence.</a:t>
              </a:r>
            </a:p>
            <a:p>
              <a:endParaRPr kumimoji="1" lang="zh-CN" altLang="en-US" dirty="0"/>
            </a:p>
          </p:txBody>
        </p:sp>
      </p:grpSp>
      <p:grpSp>
        <p:nvGrpSpPr>
          <p:cNvPr id="18" name="组合 17">
            <a:extLst>
              <a:ext uri="{FF2B5EF4-FFF2-40B4-BE49-F238E27FC236}">
                <a16:creationId xmlns:a16="http://schemas.microsoft.com/office/drawing/2014/main" id="{C4C48CED-F0C5-709A-40D4-2F72C49BEC00}"/>
              </a:ext>
            </a:extLst>
          </p:cNvPr>
          <p:cNvGrpSpPr/>
          <p:nvPr/>
        </p:nvGrpSpPr>
        <p:grpSpPr>
          <a:xfrm>
            <a:off x="1371598" y="3685479"/>
            <a:ext cx="7238998" cy="2862322"/>
            <a:chOff x="1371598" y="3685479"/>
            <a:chExt cx="7238998" cy="2862322"/>
          </a:xfrm>
        </p:grpSpPr>
        <p:grpSp>
          <p:nvGrpSpPr>
            <p:cNvPr id="12" name="组合 11">
              <a:extLst>
                <a:ext uri="{FF2B5EF4-FFF2-40B4-BE49-F238E27FC236}">
                  <a16:creationId xmlns:a16="http://schemas.microsoft.com/office/drawing/2014/main" id="{05B0070D-2A6A-759B-68F4-CEC27023EBCB}"/>
                </a:ext>
              </a:extLst>
            </p:cNvPr>
            <p:cNvGrpSpPr/>
            <p:nvPr/>
          </p:nvGrpSpPr>
          <p:grpSpPr>
            <a:xfrm>
              <a:off x="5430644" y="3685479"/>
              <a:ext cx="3179952" cy="2862322"/>
              <a:chOff x="5430644" y="503663"/>
              <a:chExt cx="3179952" cy="2862322"/>
            </a:xfrm>
          </p:grpSpPr>
          <p:cxnSp>
            <p:nvCxnSpPr>
              <p:cNvPr id="14" name="直线连接符 13">
                <a:extLst>
                  <a:ext uri="{FF2B5EF4-FFF2-40B4-BE49-F238E27FC236}">
                    <a16:creationId xmlns:a16="http://schemas.microsoft.com/office/drawing/2014/main" id="{D5B093CB-8F37-ED93-D898-87C4A433728F}"/>
                  </a:ext>
                </a:extLst>
              </p:cNvPr>
              <p:cNvCxnSpPr/>
              <p:nvPr/>
            </p:nvCxnSpPr>
            <p:spPr>
              <a:xfrm>
                <a:off x="5430644" y="503663"/>
                <a:ext cx="0" cy="2562922"/>
              </a:xfrm>
              <a:prstGeom prst="line">
                <a:avLst/>
              </a:prstGeom>
              <a:ln>
                <a:prstDash val="sysDash"/>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15" name="文本框 14">
                <a:extLst>
                  <a:ext uri="{FF2B5EF4-FFF2-40B4-BE49-F238E27FC236}">
                    <a16:creationId xmlns:a16="http://schemas.microsoft.com/office/drawing/2014/main" id="{5B2A278F-2C8C-2FC2-3D83-43A77C4D9CD0}"/>
                  </a:ext>
                </a:extLst>
              </p:cNvPr>
              <p:cNvSpPr txBox="1"/>
              <p:nvPr/>
            </p:nvSpPr>
            <p:spPr>
              <a:xfrm>
                <a:off x="5564460" y="503663"/>
                <a:ext cx="3046136" cy="2862322"/>
              </a:xfrm>
              <a:prstGeom prst="rect">
                <a:avLst/>
              </a:prstGeom>
              <a:noFill/>
            </p:spPr>
            <p:txBody>
              <a:bodyPr wrap="square" rtlCol="0">
                <a:spAutoFit/>
              </a:bodyPr>
              <a:lstStyle/>
              <a:p>
                <a:r>
                  <a:rPr lang="en" altLang="zh-CN" dirty="0">
                    <a:latin typeface="Times New Roman" panose="02020603050405020304" pitchFamily="18" charset="0"/>
                    <a:cs typeface="Times New Roman" panose="02020603050405020304" pitchFamily="18" charset="0"/>
                  </a:rPr>
                  <a:t>A food web showing predation relationships among field mice, snakes, hawks, grasshoppers, frogs, and </a:t>
                </a:r>
                <a:r>
                  <a:rPr lang="en" altLang="zh-CN" dirty="0" err="1">
                    <a:latin typeface="Times New Roman" panose="02020603050405020304" pitchFamily="18" charset="0"/>
                    <a:cs typeface="Times New Roman" panose="02020603050405020304" pitchFamily="18" charset="0"/>
                  </a:rPr>
                  <a:t>grass.Causal</a:t>
                </a:r>
                <a:r>
                  <a:rPr lang="en" altLang="zh-CN" dirty="0">
                    <a:latin typeface="Times New Roman" panose="02020603050405020304" pitchFamily="18" charset="0"/>
                    <a:cs typeface="Times New Roman" panose="02020603050405020304" pitchFamily="18" charset="0"/>
                  </a:rPr>
                  <a:t> reasoning hallucinations arise when the model incorrectly traces causal </a:t>
                </a:r>
                <a:r>
                  <a:rPr lang="en" altLang="zh-CN" dirty="0" err="1">
                    <a:latin typeface="Times New Roman" panose="02020603050405020304" pitchFamily="18" charset="0"/>
                    <a:cs typeface="Times New Roman" panose="02020603050405020304" pitchFamily="18" charset="0"/>
                  </a:rPr>
                  <a:t>chains,reversing</a:t>
                </a:r>
                <a:r>
                  <a:rPr lang="en" altLang="zh-CN" dirty="0">
                    <a:latin typeface="Times New Roman" panose="02020603050405020304" pitchFamily="18" charset="0"/>
                    <a:cs typeface="Times New Roman" panose="02020603050405020304" pitchFamily="18" charset="0"/>
                  </a:rPr>
                  <a:t> the expected direction of population effects.</a:t>
                </a:r>
              </a:p>
              <a:p>
                <a:endParaRPr kumimoji="1" lang="zh-CN" altLang="en-US" dirty="0"/>
              </a:p>
            </p:txBody>
          </p:sp>
        </p:grpSp>
        <p:pic>
          <p:nvPicPr>
            <p:cNvPr id="17" name="图片 16">
              <a:extLst>
                <a:ext uri="{FF2B5EF4-FFF2-40B4-BE49-F238E27FC236}">
                  <a16:creationId xmlns:a16="http://schemas.microsoft.com/office/drawing/2014/main" id="{8DF51101-48DF-3138-2C7A-FE8E018C1388}"/>
                </a:ext>
              </a:extLst>
            </p:cNvPr>
            <p:cNvPicPr>
              <a:picLocks noChangeAspect="1"/>
            </p:cNvPicPr>
            <p:nvPr/>
          </p:nvPicPr>
          <p:blipFill>
            <a:blip r:embed="rId3"/>
            <a:stretch>
              <a:fillRect/>
            </a:stretch>
          </p:blipFill>
          <p:spPr>
            <a:xfrm>
              <a:off x="1371598" y="3746207"/>
              <a:ext cx="3992137" cy="2502194"/>
            </a:xfrm>
            <a:prstGeom prst="roundRect">
              <a:avLst>
                <a:gd name="adj" fmla="val 8594"/>
              </a:avLst>
            </a:prstGeom>
            <a:solidFill>
              <a:srgbClr val="FFFFFF">
                <a:shade val="85000"/>
              </a:srgbClr>
            </a:solidFill>
            <a:ln>
              <a:noFill/>
            </a:ln>
            <a:effectLst/>
          </p:spPr>
        </p:pic>
      </p:grpSp>
    </p:spTree>
    <p:extLst>
      <p:ext uri="{BB962C8B-B14F-4D97-AF65-F5344CB8AC3E}">
        <p14:creationId xmlns:p14="http://schemas.microsoft.com/office/powerpoint/2010/main" val="315518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 name="组合 121">
            <a:extLst>
              <a:ext uri="{FF2B5EF4-FFF2-40B4-BE49-F238E27FC236}">
                <a16:creationId xmlns:a16="http://schemas.microsoft.com/office/drawing/2014/main" id="{A7470508-A5EC-D7A5-E3AC-F259730905AD}"/>
              </a:ext>
            </a:extLst>
          </p:cNvPr>
          <p:cNvGrpSpPr/>
          <p:nvPr/>
        </p:nvGrpSpPr>
        <p:grpSpPr>
          <a:xfrm>
            <a:off x="238203" y="251455"/>
            <a:ext cx="9699411" cy="6564580"/>
            <a:chOff x="238203" y="251455"/>
            <a:chExt cx="9699411" cy="6564580"/>
          </a:xfrm>
        </p:grpSpPr>
        <p:cxnSp>
          <p:nvCxnSpPr>
            <p:cNvPr id="14" name="直线箭头连接符 13">
              <a:extLst>
                <a:ext uri="{FF2B5EF4-FFF2-40B4-BE49-F238E27FC236}">
                  <a16:creationId xmlns:a16="http://schemas.microsoft.com/office/drawing/2014/main" id="{4305792B-E081-2190-D60E-E6D4F972D66A}"/>
                </a:ext>
              </a:extLst>
            </p:cNvPr>
            <p:cNvCxnSpPr>
              <a:cxnSpLocks/>
            </p:cNvCxnSpPr>
            <p:nvPr/>
          </p:nvCxnSpPr>
          <p:spPr>
            <a:xfrm flipV="1">
              <a:off x="3669443" y="1886983"/>
              <a:ext cx="420892" cy="411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77C0AE20-22F9-7B5A-AAD8-7D2CF7B60F22}"/>
                </a:ext>
              </a:extLst>
            </p:cNvPr>
            <p:cNvGrpSpPr/>
            <p:nvPr/>
          </p:nvGrpSpPr>
          <p:grpSpPr>
            <a:xfrm>
              <a:off x="501767" y="351533"/>
              <a:ext cx="3126266" cy="2371470"/>
              <a:chOff x="416039" y="351533"/>
              <a:chExt cx="3126266" cy="1468393"/>
            </a:xfrm>
          </p:grpSpPr>
          <p:sp>
            <p:nvSpPr>
              <p:cNvPr id="4" name="圆角矩形 3">
                <a:extLst>
                  <a:ext uri="{FF2B5EF4-FFF2-40B4-BE49-F238E27FC236}">
                    <a16:creationId xmlns:a16="http://schemas.microsoft.com/office/drawing/2014/main" id="{3EB074F4-B0F7-2492-2B80-997473E4884A}"/>
                  </a:ext>
                </a:extLst>
              </p:cNvPr>
              <p:cNvSpPr/>
              <p:nvPr/>
            </p:nvSpPr>
            <p:spPr>
              <a:xfrm>
                <a:off x="416039" y="351534"/>
                <a:ext cx="3126266" cy="1254585"/>
              </a:xfrm>
              <a:prstGeom prst="roundRect">
                <a:avLst>
                  <a:gd name="adj" fmla="val 10685"/>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p>
            </p:txBody>
          </p:sp>
          <p:pic>
            <p:nvPicPr>
              <p:cNvPr id="7" name="图片 6">
                <a:extLst>
                  <a:ext uri="{FF2B5EF4-FFF2-40B4-BE49-F238E27FC236}">
                    <a16:creationId xmlns:a16="http://schemas.microsoft.com/office/drawing/2014/main" id="{17F836AD-3A10-4AF5-2423-132E382C7294}"/>
                  </a:ext>
                </a:extLst>
              </p:cNvPr>
              <p:cNvPicPr>
                <a:picLocks noChangeAspect="1"/>
              </p:cNvPicPr>
              <p:nvPr/>
            </p:nvPicPr>
            <p:blipFill>
              <a:blip r:embed="rId3"/>
              <a:stretch>
                <a:fillRect/>
              </a:stretch>
            </p:blipFill>
            <p:spPr>
              <a:xfrm>
                <a:off x="518527" y="621973"/>
                <a:ext cx="1605347" cy="771656"/>
              </a:xfrm>
              <a:prstGeom prst="roundRect">
                <a:avLst>
                  <a:gd name="adj" fmla="val 8594"/>
                </a:avLst>
              </a:prstGeom>
              <a:solidFill>
                <a:srgbClr val="FFFFFF">
                  <a:shade val="85000"/>
                </a:srgbClr>
              </a:solidFill>
              <a:ln>
                <a:noFill/>
              </a:ln>
              <a:effectLst/>
            </p:spPr>
          </p:pic>
          <p:sp>
            <p:nvSpPr>
              <p:cNvPr id="8" name="文本框 7">
                <a:extLst>
                  <a:ext uri="{FF2B5EF4-FFF2-40B4-BE49-F238E27FC236}">
                    <a16:creationId xmlns:a16="http://schemas.microsoft.com/office/drawing/2014/main" id="{83AC16FC-47F8-9C1B-254A-B5B67AC8939E}"/>
                  </a:ext>
                </a:extLst>
              </p:cNvPr>
              <p:cNvSpPr txBox="1"/>
              <p:nvPr/>
            </p:nvSpPr>
            <p:spPr>
              <a:xfrm>
                <a:off x="599828" y="351533"/>
                <a:ext cx="2674620" cy="209630"/>
              </a:xfrm>
              <a:prstGeom prst="rect">
                <a:avLst/>
              </a:prstGeom>
              <a:noFill/>
            </p:spPr>
            <p:txBody>
              <a:bodyPr wrap="square" rtlCol="0">
                <a:spAutoFit/>
              </a:bodyPr>
              <a:lstStyle/>
              <a:p>
                <a:r>
                  <a:rPr kumimoji="1" lang="en-US" altLang="zh-CN" sz="1600" b="1" dirty="0" err="1">
                    <a:latin typeface="Andale Mono" panose="020B0509000000000004" pitchFamily="49" charset="0"/>
                    <a:cs typeface="Times New Roman" panose="02020603050405020304" pitchFamily="18" charset="0"/>
                  </a:rPr>
                  <a:t>MathVista</a:t>
                </a:r>
                <a:r>
                  <a:rPr kumimoji="1" lang="zh-CN" altLang="en-US" sz="1200" b="1" dirty="0">
                    <a:latin typeface="Andale Mono" panose="020B0509000000000004" pitchFamily="49" charset="0"/>
                    <a:cs typeface="Times New Roman" panose="02020603050405020304" pitchFamily="18" charset="0"/>
                  </a:rPr>
                  <a:t>（</a:t>
                </a:r>
                <a:r>
                  <a:rPr kumimoji="1" lang="en-US" altLang="zh-CN" sz="1200" b="1" dirty="0">
                    <a:latin typeface="Andale Mono" panose="020B0509000000000004" pitchFamily="49" charset="0"/>
                    <a:cs typeface="Times New Roman" panose="02020603050405020304" pitchFamily="18" charset="0"/>
                  </a:rPr>
                  <a:t>PID</a:t>
                </a:r>
                <a:r>
                  <a:rPr kumimoji="1" lang="zh-CN" altLang="en-US" sz="1200" b="1" dirty="0">
                    <a:latin typeface="Andale Mono" panose="020B0509000000000004" pitchFamily="49" charset="0"/>
                    <a:cs typeface="Times New Roman" panose="02020603050405020304" pitchFamily="18" charset="0"/>
                  </a:rPr>
                  <a:t>：</a:t>
                </a:r>
                <a:r>
                  <a:rPr kumimoji="1" lang="en-US" altLang="zh-CN" sz="1200" b="1" dirty="0">
                    <a:latin typeface="Andale Mono" panose="020B0509000000000004" pitchFamily="49" charset="0"/>
                    <a:cs typeface="Times New Roman" panose="02020603050405020304" pitchFamily="18" charset="0"/>
                  </a:rPr>
                  <a:t>55</a:t>
                </a:r>
                <a:r>
                  <a:rPr kumimoji="1" lang="zh-CN" altLang="en-US" sz="1200" b="1" dirty="0">
                    <a:latin typeface="Andale Mono" panose="020B0509000000000004" pitchFamily="49" charset="0"/>
                    <a:cs typeface="Times New Roman" panose="02020603050405020304" pitchFamily="18" charset="0"/>
                  </a:rPr>
                  <a:t>）</a:t>
                </a:r>
              </a:p>
            </p:txBody>
          </p:sp>
          <p:sp>
            <p:nvSpPr>
              <p:cNvPr id="10" name="文本框 9">
                <a:extLst>
                  <a:ext uri="{FF2B5EF4-FFF2-40B4-BE49-F238E27FC236}">
                    <a16:creationId xmlns:a16="http://schemas.microsoft.com/office/drawing/2014/main" id="{050AACFD-840C-C292-0BD4-A559575553E0}"/>
                  </a:ext>
                </a:extLst>
              </p:cNvPr>
              <p:cNvSpPr txBox="1"/>
              <p:nvPr/>
            </p:nvSpPr>
            <p:spPr>
              <a:xfrm>
                <a:off x="2124326" y="511785"/>
                <a:ext cx="1364619" cy="1100557"/>
              </a:xfrm>
              <a:prstGeom prst="rect">
                <a:avLst/>
              </a:prstGeom>
              <a:noFill/>
            </p:spPr>
            <p:txBody>
              <a:bodyPr wrap="square" rtlCol="0">
                <a:spAutoFit/>
              </a:bodyPr>
              <a:lstStyle/>
              <a:p>
                <a:r>
                  <a:rPr lang="en" altLang="zh-CN" sz="900" dirty="0">
                    <a:latin typeface="Times New Roman" panose="02020603050405020304" pitchFamily="18" charset="0"/>
                    <a:cs typeface="Times New Roman" panose="02020603050405020304" pitchFamily="18" charset="0"/>
                  </a:rPr>
                  <a:t>Question:</a:t>
                </a:r>
              </a:p>
              <a:p>
                <a:r>
                  <a:rPr lang="en" altLang="zh-CN" sz="900" dirty="0">
                    <a:latin typeface="Times New Roman" panose="02020603050405020304" pitchFamily="18" charset="0"/>
                    <a:cs typeface="Times New Roman" panose="02020603050405020304" pitchFamily="18" charset="0"/>
                  </a:rPr>
                  <a:t> </a:t>
                </a:r>
                <a:r>
                  <a:rPr lang="zh-CN" altLang="en-US" sz="900" dirty="0">
                    <a:latin typeface="Times New Roman" panose="02020603050405020304" pitchFamily="18" charset="0"/>
                    <a:cs typeface="Times New Roman" panose="02020603050405020304" pitchFamily="18" charset="0"/>
                  </a:rPr>
                  <a:t>如图，一块直角三角板</a:t>
                </a:r>
                <a:r>
                  <a:rPr lang="en-US" altLang="zh-CN" sz="900" dirty="0">
                    <a:latin typeface="Times New Roman" panose="02020603050405020304" pitchFamily="18" charset="0"/>
                    <a:cs typeface="Times New Roman" panose="02020603050405020304" pitchFamily="18" charset="0"/>
                  </a:rPr>
                  <a:t>60°</a:t>
                </a:r>
                <a:r>
                  <a:rPr lang="zh-CN" altLang="en-US" sz="900" dirty="0">
                    <a:latin typeface="Times New Roman" panose="02020603050405020304" pitchFamily="18" charset="0"/>
                    <a:cs typeface="Times New Roman" panose="02020603050405020304" pitchFamily="18" charset="0"/>
                  </a:rPr>
                  <a:t>的角的顶点</a:t>
                </a:r>
                <a:r>
                  <a:rPr lang="en" altLang="zh-CN" sz="900" dirty="0">
                    <a:latin typeface="Times New Roman" panose="02020603050405020304" pitchFamily="18" charset="0"/>
                    <a:cs typeface="Times New Roman" panose="02020603050405020304" pitchFamily="18" charset="0"/>
                  </a:rPr>
                  <a:t>A</a:t>
                </a:r>
                <a:r>
                  <a:rPr lang="zh-CN" altLang="en-US" sz="900" dirty="0">
                    <a:latin typeface="Times New Roman" panose="02020603050405020304" pitchFamily="18" charset="0"/>
                    <a:cs typeface="Times New Roman" panose="02020603050405020304" pitchFamily="18" charset="0"/>
                  </a:rPr>
                  <a:t>与直角顶点</a:t>
                </a:r>
                <a:r>
                  <a:rPr lang="en" altLang="zh-CN" sz="900" dirty="0">
                    <a:latin typeface="Times New Roman" panose="02020603050405020304" pitchFamily="18" charset="0"/>
                    <a:cs typeface="Times New Roman" panose="02020603050405020304" pitchFamily="18" charset="0"/>
                  </a:rPr>
                  <a:t>C</a:t>
                </a:r>
                <a:r>
                  <a:rPr lang="zh-CN" altLang="en-US" sz="900" dirty="0">
                    <a:latin typeface="Times New Roman" panose="02020603050405020304" pitchFamily="18" charset="0"/>
                    <a:cs typeface="Times New Roman" panose="02020603050405020304" pitchFamily="18" charset="0"/>
                  </a:rPr>
                  <a:t>分别在两平行线</a:t>
                </a:r>
                <a:r>
                  <a:rPr lang="en" altLang="zh-CN" sz="900" dirty="0">
                    <a:latin typeface="Times New Roman" panose="02020603050405020304" pitchFamily="18" charset="0"/>
                    <a:cs typeface="Times New Roman" panose="02020603050405020304" pitchFamily="18" charset="0"/>
                  </a:rPr>
                  <a:t>FG</a:t>
                </a:r>
                <a:r>
                  <a:rPr lang="zh-CN" altLang="en" sz="900" dirty="0">
                    <a:latin typeface="Times New Roman" panose="02020603050405020304" pitchFamily="18" charset="0"/>
                    <a:cs typeface="Times New Roman" panose="02020603050405020304" pitchFamily="18" charset="0"/>
                  </a:rPr>
                  <a:t>，</a:t>
                </a:r>
                <a:r>
                  <a:rPr lang="en" altLang="zh-CN" sz="900" dirty="0">
                    <a:latin typeface="Times New Roman" panose="02020603050405020304" pitchFamily="18" charset="0"/>
                    <a:cs typeface="Times New Roman" panose="02020603050405020304" pitchFamily="18" charset="0"/>
                  </a:rPr>
                  <a:t>DE</a:t>
                </a:r>
                <a:r>
                  <a:rPr lang="zh-CN" altLang="en-US" sz="900" dirty="0">
                    <a:latin typeface="Times New Roman" panose="02020603050405020304" pitchFamily="18" charset="0"/>
                    <a:cs typeface="Times New Roman" panose="02020603050405020304" pitchFamily="18" charset="0"/>
                  </a:rPr>
                  <a:t>上，斜边</a:t>
                </a:r>
                <a:r>
                  <a:rPr lang="en" altLang="zh-CN" sz="900" dirty="0">
                    <a:latin typeface="Times New Roman" panose="02020603050405020304" pitchFamily="18" charset="0"/>
                    <a:cs typeface="Times New Roman" panose="02020603050405020304" pitchFamily="18" charset="0"/>
                  </a:rPr>
                  <a:t>AB</a:t>
                </a:r>
                <a:r>
                  <a:rPr lang="zh-CN" altLang="en-US" sz="900" dirty="0">
                    <a:latin typeface="Times New Roman" panose="02020603050405020304" pitchFamily="18" charset="0"/>
                    <a:cs typeface="Times New Roman" panose="02020603050405020304" pitchFamily="18" charset="0"/>
                  </a:rPr>
                  <a:t>平分∠</a:t>
                </a:r>
                <a:r>
                  <a:rPr lang="en" altLang="zh-CN" sz="900" dirty="0">
                    <a:latin typeface="Times New Roman" panose="02020603050405020304" pitchFamily="18" charset="0"/>
                    <a:cs typeface="Times New Roman" panose="02020603050405020304" pitchFamily="18" charset="0"/>
                  </a:rPr>
                  <a:t>CAG</a:t>
                </a:r>
                <a:r>
                  <a:rPr lang="zh-CN" altLang="en" sz="900" dirty="0">
                    <a:latin typeface="Times New Roman" panose="02020603050405020304" pitchFamily="18" charset="0"/>
                    <a:cs typeface="Times New Roman" panose="02020603050405020304" pitchFamily="18" charset="0"/>
                  </a:rPr>
                  <a:t>，</a:t>
                </a:r>
                <a:r>
                  <a:rPr lang="zh-CN" altLang="en-US" sz="900" dirty="0">
                    <a:latin typeface="Times New Roman" panose="02020603050405020304" pitchFamily="18" charset="0"/>
                    <a:cs typeface="Times New Roman" panose="02020603050405020304" pitchFamily="18" charset="0"/>
                  </a:rPr>
                  <a:t>交直线</a:t>
                </a:r>
                <a:r>
                  <a:rPr lang="en" altLang="zh-CN" sz="900" dirty="0">
                    <a:latin typeface="Times New Roman" panose="02020603050405020304" pitchFamily="18" charset="0"/>
                    <a:cs typeface="Times New Roman" panose="02020603050405020304" pitchFamily="18" charset="0"/>
                  </a:rPr>
                  <a:t>DE</a:t>
                </a:r>
                <a:r>
                  <a:rPr lang="zh-CN" altLang="en-US" sz="900" dirty="0">
                    <a:latin typeface="Times New Roman" panose="02020603050405020304" pitchFamily="18" charset="0"/>
                    <a:cs typeface="Times New Roman" panose="02020603050405020304" pitchFamily="18" charset="0"/>
                  </a:rPr>
                  <a:t>于点</a:t>
                </a:r>
                <a:r>
                  <a:rPr lang="en" altLang="zh-CN" sz="900" dirty="0">
                    <a:latin typeface="Times New Roman" panose="02020603050405020304" pitchFamily="18" charset="0"/>
                    <a:cs typeface="Times New Roman" panose="02020603050405020304" pitchFamily="18" charset="0"/>
                  </a:rPr>
                  <a:t>H</a:t>
                </a:r>
                <a:r>
                  <a:rPr lang="zh-CN" altLang="en" sz="900" dirty="0">
                    <a:latin typeface="Times New Roman" panose="02020603050405020304" pitchFamily="18" charset="0"/>
                    <a:cs typeface="Times New Roman" panose="02020603050405020304" pitchFamily="18" charset="0"/>
                  </a:rPr>
                  <a:t>，</a:t>
                </a:r>
                <a:r>
                  <a:rPr lang="zh-CN" altLang="en-US" sz="900" dirty="0">
                    <a:latin typeface="Times New Roman" panose="02020603050405020304" pitchFamily="18" charset="0"/>
                    <a:cs typeface="Times New Roman" panose="02020603050405020304" pitchFamily="18" charset="0"/>
                  </a:rPr>
                  <a:t>则∠</a:t>
                </a:r>
                <a:r>
                  <a:rPr lang="en" altLang="zh-CN" sz="900" dirty="0">
                    <a:latin typeface="Times New Roman" panose="02020603050405020304" pitchFamily="18" charset="0"/>
                    <a:cs typeface="Times New Roman" panose="02020603050405020304" pitchFamily="18" charset="0"/>
                  </a:rPr>
                  <a:t>BCH</a:t>
                </a:r>
                <a:r>
                  <a:rPr lang="zh-CN" altLang="en-US" sz="900" dirty="0">
                    <a:latin typeface="Times New Roman" panose="02020603050405020304" pitchFamily="18" charset="0"/>
                    <a:cs typeface="Times New Roman" panose="02020603050405020304" pitchFamily="18" charset="0"/>
                  </a:rPr>
                  <a:t>的大小为（ ）</a:t>
                </a:r>
              </a:p>
              <a:p>
                <a:r>
                  <a:rPr lang="en" altLang="zh-CN" sz="900" dirty="0">
                    <a:latin typeface="Times New Roman" panose="02020603050405020304" pitchFamily="18" charset="0"/>
                    <a:cs typeface="Times New Roman" panose="02020603050405020304" pitchFamily="18" charset="0"/>
                  </a:rPr>
                  <a:t>Choices:</a:t>
                </a:r>
              </a:p>
              <a:p>
                <a:r>
                  <a:rPr lang="en" altLang="zh-CN" sz="900" dirty="0">
                    <a:latin typeface="Times New Roman" panose="02020603050405020304" pitchFamily="18" charset="0"/>
                    <a:cs typeface="Times New Roman" panose="02020603050405020304" pitchFamily="18" charset="0"/>
                  </a:rPr>
                  <a:t>(A) 60°</a:t>
                </a:r>
                <a:r>
                  <a:rPr lang="zh-CN" altLang="en-US" sz="900" dirty="0">
                    <a:latin typeface="Times New Roman" panose="02020603050405020304" pitchFamily="18" charset="0"/>
                    <a:cs typeface="Times New Roman" panose="02020603050405020304" pitchFamily="18" charset="0"/>
                  </a:rPr>
                  <a:t>  </a:t>
                </a:r>
                <a:r>
                  <a:rPr lang="en" altLang="zh-CN" sz="900" dirty="0">
                    <a:latin typeface="Times New Roman" panose="02020603050405020304" pitchFamily="18" charset="0"/>
                    <a:cs typeface="Times New Roman" panose="02020603050405020304" pitchFamily="18" charset="0"/>
                  </a:rPr>
                  <a:t>(B) 45°</a:t>
                </a:r>
                <a:r>
                  <a:rPr lang="zh-CN" altLang="en-US" sz="900" dirty="0">
                    <a:latin typeface="Times New Roman" panose="02020603050405020304" pitchFamily="18" charset="0"/>
                    <a:cs typeface="Times New Roman" panose="02020603050405020304" pitchFamily="18" charset="0"/>
                  </a:rPr>
                  <a:t>  </a:t>
                </a:r>
                <a:r>
                  <a:rPr lang="en" altLang="zh-CN" sz="900" dirty="0">
                    <a:latin typeface="Times New Roman" panose="02020603050405020304" pitchFamily="18" charset="0"/>
                    <a:cs typeface="Times New Roman" panose="02020603050405020304" pitchFamily="18" charset="0"/>
                  </a:rPr>
                  <a:t>(C) 30°</a:t>
                </a:r>
                <a:r>
                  <a:rPr lang="zh-CN" altLang="en-US" sz="900" dirty="0">
                    <a:latin typeface="Times New Roman" panose="02020603050405020304" pitchFamily="18" charset="0"/>
                    <a:cs typeface="Times New Roman" panose="02020603050405020304" pitchFamily="18" charset="0"/>
                  </a:rPr>
                  <a:t>  </a:t>
                </a:r>
                <a:r>
                  <a:rPr lang="en" altLang="zh-CN" sz="900" dirty="0">
                    <a:latin typeface="Times New Roman" panose="02020603050405020304" pitchFamily="18" charset="0"/>
                    <a:cs typeface="Times New Roman" panose="02020603050405020304" pitchFamily="18" charset="0"/>
                  </a:rPr>
                  <a:t>(D) 25°</a:t>
                </a:r>
              </a:p>
              <a:p>
                <a:endParaRPr kumimoji="1" lang="zh-CN" altLang="en-US" sz="1050" dirty="0">
                  <a:latin typeface="Times New Roman" panose="02020603050405020304" pitchFamily="18" charset="0"/>
                  <a:cs typeface="Times New Roman" panose="02020603050405020304" pitchFamily="18" charset="0"/>
                </a:endParaRPr>
              </a:p>
            </p:txBody>
          </p:sp>
          <p:sp>
            <p:nvSpPr>
              <p:cNvPr id="31" name="圆角矩形 30">
                <a:extLst>
                  <a:ext uri="{FF2B5EF4-FFF2-40B4-BE49-F238E27FC236}">
                    <a16:creationId xmlns:a16="http://schemas.microsoft.com/office/drawing/2014/main" id="{DD2BB0C9-9A16-5E6E-E4C7-B5BD6C68295A}"/>
                  </a:ext>
                </a:extLst>
              </p:cNvPr>
              <p:cNvSpPr/>
              <p:nvPr/>
            </p:nvSpPr>
            <p:spPr>
              <a:xfrm>
                <a:off x="1198015" y="1542402"/>
                <a:ext cx="1512444" cy="139880"/>
              </a:xfrm>
              <a:prstGeom prst="roundRect">
                <a:avLst>
                  <a:gd name="adj" fmla="val 10685"/>
                </a:avLst>
              </a:prstGeom>
              <a:solidFill>
                <a:schemeClr val="bg2"/>
              </a:solidFill>
              <a:ln w="127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p>
            </p:txBody>
          </p:sp>
          <p:sp>
            <p:nvSpPr>
              <p:cNvPr id="32" name="文本框 31">
                <a:extLst>
                  <a:ext uri="{FF2B5EF4-FFF2-40B4-BE49-F238E27FC236}">
                    <a16:creationId xmlns:a16="http://schemas.microsoft.com/office/drawing/2014/main" id="{A4584C5E-338A-3541-02D6-3A91049797A8}"/>
                  </a:ext>
                </a:extLst>
              </p:cNvPr>
              <p:cNvSpPr txBox="1"/>
              <p:nvPr/>
            </p:nvSpPr>
            <p:spPr>
              <a:xfrm>
                <a:off x="1130584" y="1534067"/>
                <a:ext cx="1665300" cy="285859"/>
              </a:xfrm>
              <a:prstGeom prst="rect">
                <a:avLst/>
              </a:prstGeom>
              <a:noFill/>
            </p:spPr>
            <p:txBody>
              <a:bodyPr wrap="square" rtlCol="0">
                <a:spAutoFit/>
              </a:bodyPr>
              <a:lstStyle/>
              <a:p>
                <a:r>
                  <a:rPr kumimoji="1" lang="en-US" altLang="zh-CN" sz="1000" b="1" dirty="0">
                    <a:latin typeface="Andale Mono" panose="020B0509000000000004" pitchFamily="49" charset="0"/>
                  </a:rPr>
                  <a:t>Ground Truth</a:t>
                </a:r>
                <a:r>
                  <a:rPr kumimoji="1" lang="zh-CN" altLang="en-US" sz="1000" b="1" dirty="0">
                    <a:latin typeface="Andale Mono" panose="020B0509000000000004" pitchFamily="49" charset="0"/>
                    <a:sym typeface="Wingdings" pitchFamily="2" charset="2"/>
                  </a:rPr>
                  <a:t>（</a:t>
                </a:r>
                <a:r>
                  <a:rPr kumimoji="1" lang="en-US" altLang="zh-CN" sz="1000" b="1" dirty="0">
                    <a:latin typeface="Andale Mono" panose="020B0509000000000004" pitchFamily="49" charset="0"/>
                  </a:rPr>
                  <a:t>C</a:t>
                </a:r>
                <a:r>
                  <a:rPr kumimoji="1" lang="zh-CN" altLang="en-US" sz="1000" b="1" dirty="0">
                    <a:latin typeface="Andale Mono" panose="020B0509000000000004" pitchFamily="49" charset="0"/>
                  </a:rPr>
                  <a:t>）</a:t>
                </a:r>
                <a:r>
                  <a:rPr lang="en-US" altLang="zh-CN" sz="1000" b="1" dirty="0">
                    <a:latin typeface="Andale Mono" panose="020B0509000000000004" pitchFamily="49" charset="0"/>
                  </a:rPr>
                  <a:t>30°</a:t>
                </a:r>
              </a:p>
              <a:p>
                <a:endParaRPr kumimoji="1" lang="zh-CN" altLang="en-US" sz="1400" dirty="0"/>
              </a:p>
            </p:txBody>
          </p:sp>
        </p:grpSp>
        <p:cxnSp>
          <p:nvCxnSpPr>
            <p:cNvPr id="49" name="直线箭头连接符 48">
              <a:extLst>
                <a:ext uri="{FF2B5EF4-FFF2-40B4-BE49-F238E27FC236}">
                  <a16:creationId xmlns:a16="http://schemas.microsoft.com/office/drawing/2014/main" id="{157A6081-69C1-439E-0698-41B9134BBFDA}"/>
                </a:ext>
              </a:extLst>
            </p:cNvPr>
            <p:cNvCxnSpPr>
              <a:cxnSpLocks/>
            </p:cNvCxnSpPr>
            <p:nvPr/>
          </p:nvCxnSpPr>
          <p:spPr>
            <a:xfrm>
              <a:off x="1937138" y="2529278"/>
              <a:ext cx="0" cy="32267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4" name="组合 63">
              <a:extLst>
                <a:ext uri="{FF2B5EF4-FFF2-40B4-BE49-F238E27FC236}">
                  <a16:creationId xmlns:a16="http://schemas.microsoft.com/office/drawing/2014/main" id="{C05B2FA4-DABC-7712-3D1B-A189E53742E6}"/>
                </a:ext>
              </a:extLst>
            </p:cNvPr>
            <p:cNvGrpSpPr/>
            <p:nvPr/>
          </p:nvGrpSpPr>
          <p:grpSpPr>
            <a:xfrm>
              <a:off x="238203" y="2851955"/>
              <a:ext cx="4477243" cy="3801063"/>
              <a:chOff x="335495" y="2609357"/>
              <a:chExt cx="4477243" cy="3801063"/>
            </a:xfrm>
          </p:grpSpPr>
          <p:sp>
            <p:nvSpPr>
              <p:cNvPr id="43" name="圆角矩形 42">
                <a:extLst>
                  <a:ext uri="{FF2B5EF4-FFF2-40B4-BE49-F238E27FC236}">
                    <a16:creationId xmlns:a16="http://schemas.microsoft.com/office/drawing/2014/main" id="{B5C8A32F-0216-15F9-CEF5-146A7DDE3DCA}"/>
                  </a:ext>
                </a:extLst>
              </p:cNvPr>
              <p:cNvSpPr/>
              <p:nvPr/>
            </p:nvSpPr>
            <p:spPr>
              <a:xfrm>
                <a:off x="335495" y="2609357"/>
                <a:ext cx="3697828" cy="3801063"/>
              </a:xfrm>
              <a:prstGeom prst="roundRect">
                <a:avLst>
                  <a:gd name="adj" fmla="val 8417"/>
                </a:avLst>
              </a:prstGeom>
              <a:solidFill>
                <a:schemeClr val="accent4">
                  <a:lumMod val="40000"/>
                  <a:lumOff val="60000"/>
                  <a:alpha val="10000"/>
                </a:schemeClr>
              </a:solid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45" name="图形 44" descr="法槌 纯色填充">
                <a:extLst>
                  <a:ext uri="{FF2B5EF4-FFF2-40B4-BE49-F238E27FC236}">
                    <a16:creationId xmlns:a16="http://schemas.microsoft.com/office/drawing/2014/main" id="{649F611A-59BD-1C65-B8B3-523A250064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185" y="2736003"/>
                <a:ext cx="369332" cy="369332"/>
              </a:xfrm>
              <a:prstGeom prst="rect">
                <a:avLst/>
              </a:prstGeom>
            </p:spPr>
          </p:pic>
          <p:sp>
            <p:nvSpPr>
              <p:cNvPr id="46" name="文本框 45">
                <a:extLst>
                  <a:ext uri="{FF2B5EF4-FFF2-40B4-BE49-F238E27FC236}">
                    <a16:creationId xmlns:a16="http://schemas.microsoft.com/office/drawing/2014/main" id="{CFBF5A12-0A7B-5FCB-B90C-1AA23D15BDD8}"/>
                  </a:ext>
                </a:extLst>
              </p:cNvPr>
              <p:cNvSpPr txBox="1"/>
              <p:nvPr/>
            </p:nvSpPr>
            <p:spPr>
              <a:xfrm>
                <a:off x="835295" y="2716744"/>
                <a:ext cx="2993755" cy="369332"/>
              </a:xfrm>
              <a:prstGeom prst="rect">
                <a:avLst/>
              </a:prstGeom>
              <a:noFill/>
            </p:spPr>
            <p:txBody>
              <a:bodyPr wrap="square" rtlCol="0">
                <a:spAutoFit/>
              </a:bodyPr>
              <a:lstStyle/>
              <a:p>
                <a:r>
                  <a:rPr kumimoji="1" lang="en-US" altLang="zh-CN" b="1" dirty="0">
                    <a:solidFill>
                      <a:schemeClr val="accent2">
                        <a:lumMod val="75000"/>
                      </a:schemeClr>
                    </a:solidFill>
                    <a:latin typeface="Andale Mono" panose="020B0509000000000004" pitchFamily="49" charset="0"/>
                  </a:rPr>
                  <a:t>MLLM</a:t>
                </a:r>
                <a:r>
                  <a:rPr kumimoji="1" lang="zh-CN" altLang="en-US" b="1" dirty="0">
                    <a:solidFill>
                      <a:schemeClr val="accent2">
                        <a:lumMod val="75000"/>
                      </a:schemeClr>
                    </a:solidFill>
                    <a:latin typeface="Andale Mono" panose="020B0509000000000004" pitchFamily="49" charset="0"/>
                  </a:rPr>
                  <a:t> </a:t>
                </a:r>
                <a:r>
                  <a:rPr kumimoji="1" lang="en-US" altLang="zh-CN" b="1" dirty="0">
                    <a:solidFill>
                      <a:schemeClr val="accent2">
                        <a:lumMod val="75000"/>
                      </a:schemeClr>
                    </a:solidFill>
                    <a:latin typeface="Andale Mono" panose="020B0509000000000004" pitchFamily="49" charset="0"/>
                  </a:rPr>
                  <a:t>Judge</a:t>
                </a:r>
                <a:r>
                  <a:rPr kumimoji="1" lang="zh-CN" altLang="en-US" b="1" dirty="0">
                    <a:solidFill>
                      <a:schemeClr val="accent2">
                        <a:lumMod val="75000"/>
                      </a:schemeClr>
                    </a:solidFill>
                    <a:latin typeface="Andale Mono" panose="020B0509000000000004" pitchFamily="49" charset="0"/>
                  </a:rPr>
                  <a:t> </a:t>
                </a:r>
                <a:r>
                  <a:rPr kumimoji="1" lang="en-US" altLang="zh-CN" b="1" dirty="0">
                    <a:solidFill>
                      <a:schemeClr val="accent2">
                        <a:lumMod val="75000"/>
                      </a:schemeClr>
                    </a:solidFill>
                    <a:latin typeface="Andale Mono" panose="020B0509000000000004" pitchFamily="49" charset="0"/>
                  </a:rPr>
                  <a:t>(GPT-5.5)</a:t>
                </a:r>
                <a:endParaRPr kumimoji="1" lang="zh-CN" altLang="en-US" b="1" dirty="0">
                  <a:solidFill>
                    <a:schemeClr val="accent2">
                      <a:lumMod val="75000"/>
                    </a:schemeClr>
                  </a:solidFill>
                  <a:latin typeface="Andale Mono" panose="020B0509000000000004" pitchFamily="49" charset="0"/>
                </a:endParaRPr>
              </a:p>
            </p:txBody>
          </p:sp>
          <p:sp>
            <p:nvSpPr>
              <p:cNvPr id="48" name="圆角矩形 47">
                <a:extLst>
                  <a:ext uri="{FF2B5EF4-FFF2-40B4-BE49-F238E27FC236}">
                    <a16:creationId xmlns:a16="http://schemas.microsoft.com/office/drawing/2014/main" id="{CB35A685-DA25-FF71-5D98-677A51150FA1}"/>
                  </a:ext>
                </a:extLst>
              </p:cNvPr>
              <p:cNvSpPr/>
              <p:nvPr/>
            </p:nvSpPr>
            <p:spPr>
              <a:xfrm>
                <a:off x="494567" y="4620136"/>
                <a:ext cx="3334484" cy="1634389"/>
              </a:xfrm>
              <a:prstGeom prst="roundRect">
                <a:avLst>
                  <a:gd name="adj" fmla="val 7545"/>
                </a:avLst>
              </a:prstGeom>
              <a:solidFill>
                <a:schemeClr val="accent1">
                  <a:lumMod val="60000"/>
                  <a:lumOff val="40000"/>
                  <a:alpha val="20106"/>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7" name="圆角矩形 46">
                <a:extLst>
                  <a:ext uri="{FF2B5EF4-FFF2-40B4-BE49-F238E27FC236}">
                    <a16:creationId xmlns:a16="http://schemas.microsoft.com/office/drawing/2014/main" id="{BA01EF5B-1AEB-AA80-2DF1-AB0B2188462F}"/>
                  </a:ext>
                </a:extLst>
              </p:cNvPr>
              <p:cNvSpPr/>
              <p:nvPr/>
            </p:nvSpPr>
            <p:spPr>
              <a:xfrm>
                <a:off x="523185" y="3200787"/>
                <a:ext cx="3305865" cy="1245368"/>
              </a:xfrm>
              <a:prstGeom prst="roundRect">
                <a:avLst>
                  <a:gd name="adj" fmla="val 7545"/>
                </a:avLst>
              </a:prstGeom>
              <a:solidFill>
                <a:schemeClr val="accent2">
                  <a:lumMod val="60000"/>
                  <a:lumOff val="40000"/>
                  <a:alpha val="20106"/>
                </a:schemeClr>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文本框 51">
                <a:extLst>
                  <a:ext uri="{FF2B5EF4-FFF2-40B4-BE49-F238E27FC236}">
                    <a16:creationId xmlns:a16="http://schemas.microsoft.com/office/drawing/2014/main" id="{E6A5915C-E744-CE44-361C-7B182E692D36}"/>
                  </a:ext>
                </a:extLst>
              </p:cNvPr>
              <p:cNvSpPr txBox="1"/>
              <p:nvPr/>
            </p:nvSpPr>
            <p:spPr>
              <a:xfrm>
                <a:off x="1023265" y="3179928"/>
                <a:ext cx="3764072" cy="338554"/>
              </a:xfrm>
              <a:prstGeom prst="rect">
                <a:avLst/>
              </a:prstGeom>
              <a:noFill/>
            </p:spPr>
            <p:txBody>
              <a:bodyPr wrap="square" rtlCol="0">
                <a:spAutoFit/>
              </a:bodyPr>
              <a:lstStyle/>
              <a:p>
                <a:r>
                  <a:rPr kumimoji="1" lang="en-US" altLang="zh-CN" sz="1600" b="1" dirty="0">
                    <a:solidFill>
                      <a:schemeClr val="accent2">
                        <a:lumMod val="75000"/>
                      </a:schemeClr>
                    </a:solidFill>
                    <a:latin typeface="Andale Mono" panose="020B0509000000000004" pitchFamily="49" charset="0"/>
                  </a:rPr>
                  <a:t>System</a:t>
                </a:r>
                <a:r>
                  <a:rPr kumimoji="1" lang="zh-CN" altLang="en-US" sz="1600" b="1" dirty="0">
                    <a:solidFill>
                      <a:schemeClr val="accent2">
                        <a:lumMod val="75000"/>
                      </a:schemeClr>
                    </a:solidFill>
                    <a:latin typeface="Andale Mono" panose="020B0509000000000004" pitchFamily="49" charset="0"/>
                  </a:rPr>
                  <a:t> </a:t>
                </a:r>
                <a:r>
                  <a:rPr kumimoji="1" lang="en-US" altLang="zh-CN" sz="1600" b="1" dirty="0">
                    <a:solidFill>
                      <a:schemeClr val="accent2">
                        <a:lumMod val="75000"/>
                      </a:schemeClr>
                    </a:solidFill>
                    <a:latin typeface="Andale Mono" panose="020B0509000000000004" pitchFamily="49" charset="0"/>
                  </a:rPr>
                  <a:t>Prompt</a:t>
                </a:r>
                <a:endParaRPr kumimoji="1" lang="zh-CN" altLang="en-US" sz="1600" b="1" dirty="0">
                  <a:solidFill>
                    <a:schemeClr val="accent2">
                      <a:lumMod val="75000"/>
                    </a:schemeClr>
                  </a:solidFill>
                  <a:latin typeface="Andale Mono" panose="020B0509000000000004" pitchFamily="49" charset="0"/>
                </a:endParaRPr>
              </a:p>
            </p:txBody>
          </p:sp>
          <p:pic>
            <p:nvPicPr>
              <p:cNvPr id="54" name="图形 53" descr="正义天平 纯色填充">
                <a:extLst>
                  <a:ext uri="{FF2B5EF4-FFF2-40B4-BE49-F238E27FC236}">
                    <a16:creationId xmlns:a16="http://schemas.microsoft.com/office/drawing/2014/main" id="{ADBA9419-1DE6-55CD-AA20-E863EBA458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2336" y="3188002"/>
                <a:ext cx="307777" cy="307777"/>
              </a:xfrm>
              <a:prstGeom prst="rect">
                <a:avLst/>
              </a:prstGeom>
            </p:spPr>
          </p:pic>
          <p:sp>
            <p:nvSpPr>
              <p:cNvPr id="55" name="文本框 54">
                <a:extLst>
                  <a:ext uri="{FF2B5EF4-FFF2-40B4-BE49-F238E27FC236}">
                    <a16:creationId xmlns:a16="http://schemas.microsoft.com/office/drawing/2014/main" id="{908D8018-DE36-6990-0927-4DA6C18BE7AE}"/>
                  </a:ext>
                </a:extLst>
              </p:cNvPr>
              <p:cNvSpPr txBox="1"/>
              <p:nvPr/>
            </p:nvSpPr>
            <p:spPr>
              <a:xfrm>
                <a:off x="655434" y="3472015"/>
                <a:ext cx="3914739" cy="1107996"/>
              </a:xfrm>
              <a:prstGeom prst="rect">
                <a:avLst/>
              </a:prstGeom>
              <a:noFill/>
            </p:spPr>
            <p:txBody>
              <a:bodyPr wrap="square" rtlCol="0">
                <a:spAutoFit/>
              </a:bodyPr>
              <a:lstStyle/>
              <a:p>
                <a:r>
                  <a:rPr lang="en" altLang="zh-CN" sz="1100" dirty="0">
                    <a:latin typeface="Andale Mono" panose="020B0509000000000004" pitchFamily="49" charset="0"/>
                  </a:rPr>
                  <a:t>You are an impartial evaluator for multimodal language</a:t>
                </a:r>
                <a:r>
                  <a:rPr lang="zh-CN" altLang="en-US" sz="1100" dirty="0">
                    <a:latin typeface="Andale Mono" panose="020B0509000000000004" pitchFamily="49" charset="0"/>
                  </a:rPr>
                  <a:t> </a:t>
                </a:r>
                <a:r>
                  <a:rPr lang="en" altLang="zh-CN" sz="1100" dirty="0">
                    <a:latin typeface="Andale Mono" panose="020B0509000000000004" pitchFamily="49" charset="0"/>
                  </a:rPr>
                  <a:t>models</a:t>
                </a:r>
                <a:r>
                  <a:rPr lang="en-US" altLang="zh-CN" sz="1100" dirty="0">
                    <a:latin typeface="Andale Mono" panose="020B0509000000000004" pitchFamily="49" charset="0"/>
                  </a:rPr>
                  <a:t>……</a:t>
                </a:r>
                <a:endParaRPr lang="en" altLang="zh-CN" sz="1100" dirty="0">
                  <a:latin typeface="Andale Mono" panose="020B0509000000000004" pitchFamily="49" charset="0"/>
                </a:endParaRPr>
              </a:p>
              <a:p>
                <a:r>
                  <a:rPr lang="en" altLang="zh-CN" sz="1100" b="1" dirty="0">
                    <a:latin typeface="Andale Mono" panose="020B0509000000000004" pitchFamily="49" charset="0"/>
                  </a:rPr>
                  <a:t>## Rating Scale (0-6)</a:t>
                </a:r>
              </a:p>
              <a:p>
                <a:r>
                  <a:rPr lang="en" altLang="zh-CN" sz="1100" b="1" dirty="0">
                    <a:latin typeface="Andale Mono" panose="020B0509000000000004" pitchFamily="49" charset="0"/>
                  </a:rPr>
                  <a:t>#</a:t>
                </a:r>
                <a:r>
                  <a:rPr lang="en-US" altLang="zh-CN" sz="1100" b="1" dirty="0">
                    <a:latin typeface="Andale Mono" panose="020B0509000000000004" pitchFamily="49" charset="0"/>
                  </a:rPr>
                  <a:t>#</a:t>
                </a:r>
                <a:r>
                  <a:rPr lang="en" altLang="zh-CN" sz="1100" b="1" dirty="0">
                    <a:latin typeface="Andale Mono" panose="020B0509000000000004" pitchFamily="49" charset="0"/>
                  </a:rPr>
                  <a:t> Few-Shot Examples</a:t>
                </a:r>
              </a:p>
              <a:p>
                <a:r>
                  <a:rPr lang="en" altLang="zh-CN" sz="1100" b="1" dirty="0">
                    <a:latin typeface="Andale Mono" panose="020B0509000000000004" pitchFamily="49" charset="0"/>
                  </a:rPr>
                  <a:t>## Output Format</a:t>
                </a:r>
                <a:endParaRPr lang="en" altLang="zh-CN" sz="800" dirty="0">
                  <a:latin typeface="Andale Mono" panose="020B0509000000000004" pitchFamily="49" charset="0"/>
                </a:endParaRPr>
              </a:p>
              <a:p>
                <a:endParaRPr kumimoji="1" lang="zh-CN" altLang="en-US" sz="1100" dirty="0">
                  <a:latin typeface="Andale Mono" panose="020B0509000000000004" pitchFamily="49" charset="0"/>
                </a:endParaRPr>
              </a:p>
            </p:txBody>
          </p:sp>
          <p:sp>
            <p:nvSpPr>
              <p:cNvPr id="57" name="文本框 56">
                <a:extLst>
                  <a:ext uri="{FF2B5EF4-FFF2-40B4-BE49-F238E27FC236}">
                    <a16:creationId xmlns:a16="http://schemas.microsoft.com/office/drawing/2014/main" id="{4760BF35-5644-FAE1-655A-E9F62C0DE26C}"/>
                  </a:ext>
                </a:extLst>
              </p:cNvPr>
              <p:cNvSpPr txBox="1"/>
              <p:nvPr/>
            </p:nvSpPr>
            <p:spPr>
              <a:xfrm>
                <a:off x="1048666" y="4633539"/>
                <a:ext cx="3764072" cy="338554"/>
              </a:xfrm>
              <a:prstGeom prst="rect">
                <a:avLst/>
              </a:prstGeom>
              <a:noFill/>
            </p:spPr>
            <p:txBody>
              <a:bodyPr wrap="square" rtlCol="0">
                <a:spAutoFit/>
              </a:bodyPr>
              <a:lstStyle/>
              <a:p>
                <a:r>
                  <a:rPr kumimoji="1" lang="en-US" altLang="zh-CN" sz="1600" b="1" dirty="0">
                    <a:solidFill>
                      <a:schemeClr val="accent1">
                        <a:lumMod val="75000"/>
                      </a:schemeClr>
                    </a:solidFill>
                    <a:latin typeface="Andale Mono" panose="020B0509000000000004" pitchFamily="49" charset="0"/>
                  </a:rPr>
                  <a:t>User</a:t>
                </a:r>
                <a:r>
                  <a:rPr kumimoji="1" lang="zh-CN" altLang="en-US" sz="1600" b="1" dirty="0">
                    <a:solidFill>
                      <a:schemeClr val="accent1">
                        <a:lumMod val="75000"/>
                      </a:schemeClr>
                    </a:solidFill>
                    <a:latin typeface="Andale Mono" panose="020B0509000000000004" pitchFamily="49" charset="0"/>
                  </a:rPr>
                  <a:t> </a:t>
                </a:r>
                <a:r>
                  <a:rPr kumimoji="1" lang="en-US" altLang="zh-CN" sz="1600" b="1" dirty="0">
                    <a:solidFill>
                      <a:schemeClr val="accent1">
                        <a:lumMod val="75000"/>
                      </a:schemeClr>
                    </a:solidFill>
                    <a:latin typeface="Andale Mono" panose="020B0509000000000004" pitchFamily="49" charset="0"/>
                  </a:rPr>
                  <a:t>Prompt</a:t>
                </a:r>
                <a:endParaRPr kumimoji="1" lang="zh-CN" altLang="en-US" sz="1600" b="1" dirty="0">
                  <a:solidFill>
                    <a:schemeClr val="accent1">
                      <a:lumMod val="75000"/>
                    </a:schemeClr>
                  </a:solidFill>
                  <a:latin typeface="Andale Mono" panose="020B0509000000000004" pitchFamily="49" charset="0"/>
                </a:endParaRPr>
              </a:p>
            </p:txBody>
          </p:sp>
          <p:pic>
            <p:nvPicPr>
              <p:cNvPr id="59" name="图形 58" descr="文档 纯色填充">
                <a:extLst>
                  <a:ext uri="{FF2B5EF4-FFF2-40B4-BE49-F238E27FC236}">
                    <a16:creationId xmlns:a16="http://schemas.microsoft.com/office/drawing/2014/main" id="{6E2540B0-78D3-4444-DF4E-E0851227A77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6429" y="4627810"/>
                <a:ext cx="306721" cy="306721"/>
              </a:xfrm>
              <a:prstGeom prst="rect">
                <a:avLst/>
              </a:prstGeom>
            </p:spPr>
          </p:pic>
          <p:sp>
            <p:nvSpPr>
              <p:cNvPr id="60" name="文本框 59">
                <a:extLst>
                  <a:ext uri="{FF2B5EF4-FFF2-40B4-BE49-F238E27FC236}">
                    <a16:creationId xmlns:a16="http://schemas.microsoft.com/office/drawing/2014/main" id="{C901FD72-21CF-73DA-2944-FD8C60A149E8}"/>
                  </a:ext>
                </a:extLst>
              </p:cNvPr>
              <p:cNvSpPr txBox="1"/>
              <p:nvPr/>
            </p:nvSpPr>
            <p:spPr>
              <a:xfrm>
                <a:off x="597601" y="4964077"/>
                <a:ext cx="3173616" cy="1384995"/>
              </a:xfrm>
              <a:prstGeom prst="rect">
                <a:avLst/>
              </a:prstGeom>
              <a:noFill/>
            </p:spPr>
            <p:txBody>
              <a:bodyPr wrap="square" rtlCol="0">
                <a:spAutoFit/>
              </a:bodyPr>
              <a:lstStyle/>
              <a:p>
                <a:r>
                  <a:rPr lang="en-US" altLang="zh-CN" sz="1200" b="1" dirty="0">
                    <a:latin typeface="Andale Mono" panose="020B0509000000000004" pitchFamily="49" charset="0"/>
                  </a:rPr>
                  <a:t>##</a:t>
                </a:r>
                <a:r>
                  <a:rPr lang="zh-CN" altLang="en-US" sz="1200" b="1" dirty="0">
                    <a:latin typeface="Andale Mono" panose="020B0509000000000004" pitchFamily="49" charset="0"/>
                  </a:rPr>
                  <a:t> </a:t>
                </a:r>
                <a:r>
                  <a:rPr lang="en" altLang="zh-CN" sz="1200" b="1" dirty="0">
                    <a:latin typeface="Andale Mono" panose="020B0509000000000004" pitchFamily="49" charset="0"/>
                  </a:rPr>
                  <a:t>Question:……</a:t>
                </a:r>
              </a:p>
              <a:p>
                <a:r>
                  <a:rPr lang="en-US" altLang="zh-CN" sz="1200" b="1" dirty="0">
                    <a:latin typeface="Andale Mono" panose="020B0509000000000004" pitchFamily="49" charset="0"/>
                  </a:rPr>
                  <a:t>##</a:t>
                </a:r>
                <a:r>
                  <a:rPr lang="zh-CN" altLang="en-US" sz="1200" b="1" dirty="0">
                    <a:latin typeface="Andale Mono" panose="020B0509000000000004" pitchFamily="49" charset="0"/>
                  </a:rPr>
                  <a:t> </a:t>
                </a:r>
                <a:r>
                  <a:rPr lang="en" altLang="zh-CN" sz="1200" b="1" dirty="0">
                    <a:latin typeface="Andale Mono" panose="020B0509000000000004" pitchFamily="49" charset="0"/>
                  </a:rPr>
                  <a:t>Model Response:……</a:t>
                </a:r>
                <a:endParaRPr lang="en-US" altLang="zh-CN" sz="1200" b="1" dirty="0">
                  <a:latin typeface="Andale Mono" panose="020B0509000000000004" pitchFamily="49" charset="0"/>
                </a:endParaRPr>
              </a:p>
              <a:p>
                <a:r>
                  <a:rPr lang="en-US" altLang="zh-CN" sz="1200" b="1" dirty="0">
                    <a:latin typeface="Andale Mono" panose="020B0509000000000004" pitchFamily="49" charset="0"/>
                  </a:rPr>
                  <a:t>##</a:t>
                </a:r>
                <a:r>
                  <a:rPr lang="zh-CN" altLang="en-US" sz="1200" b="1" dirty="0">
                    <a:latin typeface="Andale Mono" panose="020B0509000000000004" pitchFamily="49" charset="0"/>
                  </a:rPr>
                  <a:t> </a:t>
                </a:r>
                <a:r>
                  <a:rPr lang="en" altLang="zh-CN" sz="1200" b="1" dirty="0">
                    <a:latin typeface="Andale Mono" panose="020B0509000000000004" pitchFamily="49" charset="0"/>
                  </a:rPr>
                  <a:t>Ground Truth Answer:…… </a:t>
                </a:r>
              </a:p>
              <a:p>
                <a:endParaRPr lang="en" altLang="zh-CN" sz="1200" dirty="0">
                  <a:latin typeface="Andale Mono" panose="020B0509000000000004" pitchFamily="49" charset="0"/>
                </a:endParaRPr>
              </a:p>
              <a:p>
                <a:r>
                  <a:rPr lang="en" altLang="zh-CN" sz="1200" dirty="0">
                    <a:latin typeface="Andale Mono" panose="020B0509000000000004" pitchFamily="49" charset="0"/>
                  </a:rPr>
                  <a:t>Please rate the model's response on the 0-6 scale.</a:t>
                </a:r>
              </a:p>
              <a:p>
                <a:endParaRPr kumimoji="1" lang="zh-CN" altLang="en-US" sz="1200" dirty="0">
                  <a:latin typeface="Andale Mono" panose="020B0509000000000004" pitchFamily="49" charset="0"/>
                </a:endParaRPr>
              </a:p>
            </p:txBody>
          </p:sp>
        </p:grpSp>
        <p:sp>
          <p:nvSpPr>
            <p:cNvPr id="66" name="对角圆角矩形 65">
              <a:extLst>
                <a:ext uri="{FF2B5EF4-FFF2-40B4-BE49-F238E27FC236}">
                  <a16:creationId xmlns:a16="http://schemas.microsoft.com/office/drawing/2014/main" id="{F777D493-264A-8F6F-DDDE-A9937F290A16}"/>
                </a:ext>
              </a:extLst>
            </p:cNvPr>
            <p:cNvSpPr/>
            <p:nvPr/>
          </p:nvSpPr>
          <p:spPr>
            <a:xfrm>
              <a:off x="4605083" y="4268611"/>
              <a:ext cx="5141315" cy="2380296"/>
            </a:xfrm>
            <a:custGeom>
              <a:avLst/>
              <a:gdLst>
                <a:gd name="connsiteX0" fmla="*/ 396724 w 5141315"/>
                <a:gd name="connsiteY0" fmla="*/ 0 h 2380296"/>
                <a:gd name="connsiteX1" fmla="*/ 1037244 w 5141315"/>
                <a:gd name="connsiteY1" fmla="*/ 0 h 2380296"/>
                <a:gd name="connsiteX2" fmla="*/ 1535426 w 5141315"/>
                <a:gd name="connsiteY2" fmla="*/ 0 h 2380296"/>
                <a:gd name="connsiteX3" fmla="*/ 2175946 w 5141315"/>
                <a:gd name="connsiteY3" fmla="*/ 0 h 2380296"/>
                <a:gd name="connsiteX4" fmla="*/ 2626682 w 5141315"/>
                <a:gd name="connsiteY4" fmla="*/ 0 h 2380296"/>
                <a:gd name="connsiteX5" fmla="*/ 3267202 w 5141315"/>
                <a:gd name="connsiteY5" fmla="*/ 0 h 2380296"/>
                <a:gd name="connsiteX6" fmla="*/ 3765384 w 5141315"/>
                <a:gd name="connsiteY6" fmla="*/ 0 h 2380296"/>
                <a:gd name="connsiteX7" fmla="*/ 4216120 w 5141315"/>
                <a:gd name="connsiteY7" fmla="*/ 0 h 2380296"/>
                <a:gd name="connsiteX8" fmla="*/ 5141315 w 5141315"/>
                <a:gd name="connsiteY8" fmla="*/ 0 h 2380296"/>
                <a:gd name="connsiteX9" fmla="*/ 5141315 w 5141315"/>
                <a:gd name="connsiteY9" fmla="*/ 0 h 2380296"/>
                <a:gd name="connsiteX10" fmla="*/ 5141315 w 5141315"/>
                <a:gd name="connsiteY10" fmla="*/ 515729 h 2380296"/>
                <a:gd name="connsiteX11" fmla="*/ 5141315 w 5141315"/>
                <a:gd name="connsiteY11" fmla="*/ 971950 h 2380296"/>
                <a:gd name="connsiteX12" fmla="*/ 5141315 w 5141315"/>
                <a:gd name="connsiteY12" fmla="*/ 1408336 h 2380296"/>
                <a:gd name="connsiteX13" fmla="*/ 5141315 w 5141315"/>
                <a:gd name="connsiteY13" fmla="*/ 1983572 h 2380296"/>
                <a:gd name="connsiteX14" fmla="*/ 4744591 w 5141315"/>
                <a:gd name="connsiteY14" fmla="*/ 2380296 h 2380296"/>
                <a:gd name="connsiteX15" fmla="*/ 4246409 w 5141315"/>
                <a:gd name="connsiteY15" fmla="*/ 2380296 h 2380296"/>
                <a:gd name="connsiteX16" fmla="*/ 3748227 w 5141315"/>
                <a:gd name="connsiteY16" fmla="*/ 2380296 h 2380296"/>
                <a:gd name="connsiteX17" fmla="*/ 3155153 w 5141315"/>
                <a:gd name="connsiteY17" fmla="*/ 2380296 h 2380296"/>
                <a:gd name="connsiteX18" fmla="*/ 2562079 w 5141315"/>
                <a:gd name="connsiteY18" fmla="*/ 2380296 h 2380296"/>
                <a:gd name="connsiteX19" fmla="*/ 1969005 w 5141315"/>
                <a:gd name="connsiteY19" fmla="*/ 2380296 h 2380296"/>
                <a:gd name="connsiteX20" fmla="*/ 1375931 w 5141315"/>
                <a:gd name="connsiteY20" fmla="*/ 2380296 h 2380296"/>
                <a:gd name="connsiteX21" fmla="*/ 830303 w 5141315"/>
                <a:gd name="connsiteY21" fmla="*/ 2380296 h 2380296"/>
                <a:gd name="connsiteX22" fmla="*/ 0 w 5141315"/>
                <a:gd name="connsiteY22" fmla="*/ 2380296 h 2380296"/>
                <a:gd name="connsiteX23" fmla="*/ 0 w 5141315"/>
                <a:gd name="connsiteY23" fmla="*/ 2380296 h 2380296"/>
                <a:gd name="connsiteX24" fmla="*/ 0 w 5141315"/>
                <a:gd name="connsiteY24" fmla="*/ 1884403 h 2380296"/>
                <a:gd name="connsiteX25" fmla="*/ 0 w 5141315"/>
                <a:gd name="connsiteY25" fmla="*/ 1368674 h 2380296"/>
                <a:gd name="connsiteX26" fmla="*/ 0 w 5141315"/>
                <a:gd name="connsiteY26" fmla="*/ 852946 h 2380296"/>
                <a:gd name="connsiteX27" fmla="*/ 0 w 5141315"/>
                <a:gd name="connsiteY27" fmla="*/ 396724 h 2380296"/>
                <a:gd name="connsiteX28" fmla="*/ 396724 w 5141315"/>
                <a:gd name="connsiteY28" fmla="*/ 0 h 238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141315" h="2380296" fill="none" extrusionOk="0">
                  <a:moveTo>
                    <a:pt x="396724" y="0"/>
                  </a:moveTo>
                  <a:cubicBezTo>
                    <a:pt x="530550" y="-13627"/>
                    <a:pt x="848234" y="26191"/>
                    <a:pt x="1037244" y="0"/>
                  </a:cubicBezTo>
                  <a:cubicBezTo>
                    <a:pt x="1226254" y="-26191"/>
                    <a:pt x="1351284" y="58893"/>
                    <a:pt x="1535426" y="0"/>
                  </a:cubicBezTo>
                  <a:cubicBezTo>
                    <a:pt x="1719568" y="-58893"/>
                    <a:pt x="1949960" y="64384"/>
                    <a:pt x="2175946" y="0"/>
                  </a:cubicBezTo>
                  <a:cubicBezTo>
                    <a:pt x="2401932" y="-64384"/>
                    <a:pt x="2414315" y="37113"/>
                    <a:pt x="2626682" y="0"/>
                  </a:cubicBezTo>
                  <a:cubicBezTo>
                    <a:pt x="2839049" y="-37113"/>
                    <a:pt x="3032632" y="70909"/>
                    <a:pt x="3267202" y="0"/>
                  </a:cubicBezTo>
                  <a:cubicBezTo>
                    <a:pt x="3501772" y="-70909"/>
                    <a:pt x="3593257" y="58997"/>
                    <a:pt x="3765384" y="0"/>
                  </a:cubicBezTo>
                  <a:cubicBezTo>
                    <a:pt x="3937511" y="-58997"/>
                    <a:pt x="4094409" y="48373"/>
                    <a:pt x="4216120" y="0"/>
                  </a:cubicBezTo>
                  <a:cubicBezTo>
                    <a:pt x="4337831" y="-48373"/>
                    <a:pt x="4890953" y="70709"/>
                    <a:pt x="5141315" y="0"/>
                  </a:cubicBezTo>
                  <a:lnTo>
                    <a:pt x="5141315" y="0"/>
                  </a:lnTo>
                  <a:cubicBezTo>
                    <a:pt x="5187322" y="153502"/>
                    <a:pt x="5123174" y="412338"/>
                    <a:pt x="5141315" y="515729"/>
                  </a:cubicBezTo>
                  <a:cubicBezTo>
                    <a:pt x="5159456" y="619120"/>
                    <a:pt x="5101198" y="838810"/>
                    <a:pt x="5141315" y="971950"/>
                  </a:cubicBezTo>
                  <a:cubicBezTo>
                    <a:pt x="5181432" y="1105090"/>
                    <a:pt x="5093048" y="1193600"/>
                    <a:pt x="5141315" y="1408336"/>
                  </a:cubicBezTo>
                  <a:cubicBezTo>
                    <a:pt x="5189582" y="1623072"/>
                    <a:pt x="5110171" y="1797073"/>
                    <a:pt x="5141315" y="1983572"/>
                  </a:cubicBezTo>
                  <a:cubicBezTo>
                    <a:pt x="5170198" y="2231249"/>
                    <a:pt x="4930605" y="2336044"/>
                    <a:pt x="4744591" y="2380296"/>
                  </a:cubicBezTo>
                  <a:cubicBezTo>
                    <a:pt x="4610945" y="2402125"/>
                    <a:pt x="4430612" y="2374067"/>
                    <a:pt x="4246409" y="2380296"/>
                  </a:cubicBezTo>
                  <a:cubicBezTo>
                    <a:pt x="4062206" y="2386525"/>
                    <a:pt x="3979523" y="2341087"/>
                    <a:pt x="3748227" y="2380296"/>
                  </a:cubicBezTo>
                  <a:cubicBezTo>
                    <a:pt x="3516931" y="2419505"/>
                    <a:pt x="3319762" y="2339488"/>
                    <a:pt x="3155153" y="2380296"/>
                  </a:cubicBezTo>
                  <a:cubicBezTo>
                    <a:pt x="2990544" y="2421104"/>
                    <a:pt x="2856589" y="2363650"/>
                    <a:pt x="2562079" y="2380296"/>
                  </a:cubicBezTo>
                  <a:cubicBezTo>
                    <a:pt x="2267569" y="2396942"/>
                    <a:pt x="2150063" y="2334100"/>
                    <a:pt x="1969005" y="2380296"/>
                  </a:cubicBezTo>
                  <a:cubicBezTo>
                    <a:pt x="1787947" y="2426492"/>
                    <a:pt x="1541452" y="2319384"/>
                    <a:pt x="1375931" y="2380296"/>
                  </a:cubicBezTo>
                  <a:cubicBezTo>
                    <a:pt x="1210410" y="2441208"/>
                    <a:pt x="1019684" y="2357813"/>
                    <a:pt x="830303" y="2380296"/>
                  </a:cubicBezTo>
                  <a:cubicBezTo>
                    <a:pt x="640922" y="2402779"/>
                    <a:pt x="331271" y="2370262"/>
                    <a:pt x="0" y="2380296"/>
                  </a:cubicBezTo>
                  <a:lnTo>
                    <a:pt x="0" y="2380296"/>
                  </a:lnTo>
                  <a:cubicBezTo>
                    <a:pt x="-19516" y="2136094"/>
                    <a:pt x="34854" y="2069501"/>
                    <a:pt x="0" y="1884403"/>
                  </a:cubicBezTo>
                  <a:cubicBezTo>
                    <a:pt x="-34854" y="1699305"/>
                    <a:pt x="37413" y="1488781"/>
                    <a:pt x="0" y="1368674"/>
                  </a:cubicBezTo>
                  <a:cubicBezTo>
                    <a:pt x="-37413" y="1248567"/>
                    <a:pt x="41894" y="981778"/>
                    <a:pt x="0" y="852946"/>
                  </a:cubicBezTo>
                  <a:cubicBezTo>
                    <a:pt x="-41894" y="724114"/>
                    <a:pt x="5644" y="592405"/>
                    <a:pt x="0" y="396724"/>
                  </a:cubicBezTo>
                  <a:cubicBezTo>
                    <a:pt x="-7452" y="214637"/>
                    <a:pt x="156016" y="-23149"/>
                    <a:pt x="396724" y="0"/>
                  </a:cubicBezTo>
                  <a:close/>
                </a:path>
                <a:path w="5141315" h="2380296" stroke="0" extrusionOk="0">
                  <a:moveTo>
                    <a:pt x="396724" y="0"/>
                  </a:moveTo>
                  <a:cubicBezTo>
                    <a:pt x="613888" y="-22769"/>
                    <a:pt x="782142" y="62094"/>
                    <a:pt x="942352" y="0"/>
                  </a:cubicBezTo>
                  <a:cubicBezTo>
                    <a:pt x="1102562" y="-62094"/>
                    <a:pt x="1196035" y="7792"/>
                    <a:pt x="1393088" y="0"/>
                  </a:cubicBezTo>
                  <a:cubicBezTo>
                    <a:pt x="1590141" y="-7792"/>
                    <a:pt x="1858298" y="13323"/>
                    <a:pt x="2081054" y="0"/>
                  </a:cubicBezTo>
                  <a:cubicBezTo>
                    <a:pt x="2303810" y="-13323"/>
                    <a:pt x="2480831" y="17329"/>
                    <a:pt x="2626682" y="0"/>
                  </a:cubicBezTo>
                  <a:cubicBezTo>
                    <a:pt x="2772533" y="-17329"/>
                    <a:pt x="3018849" y="36322"/>
                    <a:pt x="3172310" y="0"/>
                  </a:cubicBezTo>
                  <a:cubicBezTo>
                    <a:pt x="3325771" y="-36322"/>
                    <a:pt x="3646370" y="43967"/>
                    <a:pt x="3860275" y="0"/>
                  </a:cubicBezTo>
                  <a:cubicBezTo>
                    <a:pt x="4074180" y="-43967"/>
                    <a:pt x="4190332" y="43557"/>
                    <a:pt x="4358457" y="0"/>
                  </a:cubicBezTo>
                  <a:cubicBezTo>
                    <a:pt x="4526582" y="-43557"/>
                    <a:pt x="4854284" y="76819"/>
                    <a:pt x="5141315" y="0"/>
                  </a:cubicBezTo>
                  <a:lnTo>
                    <a:pt x="5141315" y="0"/>
                  </a:lnTo>
                  <a:cubicBezTo>
                    <a:pt x="5156350" y="245730"/>
                    <a:pt x="5105338" y="296196"/>
                    <a:pt x="5141315" y="535564"/>
                  </a:cubicBezTo>
                  <a:cubicBezTo>
                    <a:pt x="5177292" y="774932"/>
                    <a:pt x="5102634" y="778087"/>
                    <a:pt x="5141315" y="991786"/>
                  </a:cubicBezTo>
                  <a:cubicBezTo>
                    <a:pt x="5179996" y="1205485"/>
                    <a:pt x="5098388" y="1344150"/>
                    <a:pt x="5141315" y="1487679"/>
                  </a:cubicBezTo>
                  <a:cubicBezTo>
                    <a:pt x="5184242" y="1631208"/>
                    <a:pt x="5085017" y="1819779"/>
                    <a:pt x="5141315" y="1983572"/>
                  </a:cubicBezTo>
                  <a:cubicBezTo>
                    <a:pt x="5172651" y="2250945"/>
                    <a:pt x="4977217" y="2396858"/>
                    <a:pt x="4744591" y="2380296"/>
                  </a:cubicBezTo>
                  <a:cubicBezTo>
                    <a:pt x="4488467" y="2410403"/>
                    <a:pt x="4311821" y="2371958"/>
                    <a:pt x="4198963" y="2380296"/>
                  </a:cubicBezTo>
                  <a:cubicBezTo>
                    <a:pt x="4086105" y="2388634"/>
                    <a:pt x="3872285" y="2349142"/>
                    <a:pt x="3605889" y="2380296"/>
                  </a:cubicBezTo>
                  <a:cubicBezTo>
                    <a:pt x="3339493" y="2411450"/>
                    <a:pt x="3253216" y="2320375"/>
                    <a:pt x="2965369" y="2380296"/>
                  </a:cubicBezTo>
                  <a:cubicBezTo>
                    <a:pt x="2677522" y="2440217"/>
                    <a:pt x="2493289" y="2313270"/>
                    <a:pt x="2324850" y="2380296"/>
                  </a:cubicBezTo>
                  <a:cubicBezTo>
                    <a:pt x="2156411" y="2447322"/>
                    <a:pt x="1932937" y="2369820"/>
                    <a:pt x="1684330" y="2380296"/>
                  </a:cubicBezTo>
                  <a:cubicBezTo>
                    <a:pt x="1435723" y="2390772"/>
                    <a:pt x="1335810" y="2339902"/>
                    <a:pt x="1233594" y="2380296"/>
                  </a:cubicBezTo>
                  <a:cubicBezTo>
                    <a:pt x="1131378" y="2420690"/>
                    <a:pt x="969248" y="2376475"/>
                    <a:pt x="735412" y="2380296"/>
                  </a:cubicBezTo>
                  <a:cubicBezTo>
                    <a:pt x="501576" y="2384117"/>
                    <a:pt x="341845" y="2331954"/>
                    <a:pt x="0" y="2380296"/>
                  </a:cubicBezTo>
                  <a:lnTo>
                    <a:pt x="0" y="2380296"/>
                  </a:lnTo>
                  <a:cubicBezTo>
                    <a:pt x="-36943" y="2164944"/>
                    <a:pt x="35653" y="2117588"/>
                    <a:pt x="0" y="1904239"/>
                  </a:cubicBezTo>
                  <a:cubicBezTo>
                    <a:pt x="-35653" y="1690890"/>
                    <a:pt x="29235" y="1588285"/>
                    <a:pt x="0" y="1408346"/>
                  </a:cubicBezTo>
                  <a:cubicBezTo>
                    <a:pt x="-29235" y="1228407"/>
                    <a:pt x="14235" y="1165796"/>
                    <a:pt x="0" y="971960"/>
                  </a:cubicBezTo>
                  <a:cubicBezTo>
                    <a:pt x="-14235" y="778124"/>
                    <a:pt x="35899" y="661724"/>
                    <a:pt x="0" y="396724"/>
                  </a:cubicBezTo>
                  <a:cubicBezTo>
                    <a:pt x="-17676" y="213103"/>
                    <a:pt x="172862" y="-6311"/>
                    <a:pt x="396724" y="0"/>
                  </a:cubicBezTo>
                  <a:close/>
                </a:path>
              </a:pathLst>
            </a:custGeom>
            <a:solidFill>
              <a:srgbClr val="FF0000">
                <a:alpha val="5000"/>
              </a:srgbClr>
            </a:solidFill>
            <a:ln w="25400">
              <a:solidFill>
                <a:srgbClr val="FF0000"/>
              </a:solidFill>
              <a:prstDash val="sysDash"/>
              <a:extLst>
                <a:ext uri="{C807C97D-BFC1-408E-A445-0C87EB9F89A2}">
                  <ask:lineSketchStyleProps xmlns:ask="http://schemas.microsoft.com/office/drawing/2018/sketchyshapes" sd="1219033472">
                    <a:prstGeom prst="round2Diag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7" name="文本框 66">
              <a:extLst>
                <a:ext uri="{FF2B5EF4-FFF2-40B4-BE49-F238E27FC236}">
                  <a16:creationId xmlns:a16="http://schemas.microsoft.com/office/drawing/2014/main" id="{1E05AD3A-D67C-7812-5AC8-200853E4CB9A}"/>
                </a:ext>
              </a:extLst>
            </p:cNvPr>
            <p:cNvSpPr txBox="1"/>
            <p:nvPr/>
          </p:nvSpPr>
          <p:spPr>
            <a:xfrm>
              <a:off x="6166960" y="4324905"/>
              <a:ext cx="2884429" cy="369332"/>
            </a:xfrm>
            <a:prstGeom prst="rect">
              <a:avLst/>
            </a:prstGeom>
            <a:noFill/>
          </p:spPr>
          <p:txBody>
            <a:bodyPr wrap="square" rtlCol="0">
              <a:spAutoFit/>
            </a:bodyPr>
            <a:lstStyle/>
            <a:p>
              <a:r>
                <a:rPr kumimoji="1" lang="en-US" altLang="zh-CN" b="1" dirty="0">
                  <a:solidFill>
                    <a:srgbClr val="C00000"/>
                  </a:solidFill>
                  <a:latin typeface="Andale Mono" panose="020B0509000000000004" pitchFamily="49" charset="0"/>
                </a:rPr>
                <a:t>Judge</a:t>
              </a:r>
              <a:r>
                <a:rPr kumimoji="1" lang="zh-CN" altLang="en-US" b="1" dirty="0">
                  <a:solidFill>
                    <a:srgbClr val="C00000"/>
                  </a:solidFill>
                  <a:latin typeface="Andale Mono" panose="020B0509000000000004" pitchFamily="49" charset="0"/>
                </a:rPr>
                <a:t> </a:t>
              </a:r>
              <a:r>
                <a:rPr kumimoji="1" lang="en-US" altLang="zh-CN" b="1" dirty="0">
                  <a:solidFill>
                    <a:srgbClr val="C00000"/>
                  </a:solidFill>
                  <a:latin typeface="Andale Mono" panose="020B0509000000000004" pitchFamily="49" charset="0"/>
                </a:rPr>
                <a:t>Response</a:t>
              </a:r>
              <a:endParaRPr kumimoji="1" lang="zh-CN" altLang="en-US" b="1" dirty="0">
                <a:solidFill>
                  <a:srgbClr val="C00000"/>
                </a:solidFill>
                <a:latin typeface="Andale Mono" panose="020B0509000000000004" pitchFamily="49" charset="0"/>
              </a:endParaRPr>
            </a:p>
          </p:txBody>
        </p:sp>
        <p:grpSp>
          <p:nvGrpSpPr>
            <p:cNvPr id="107" name="组合 106">
              <a:extLst>
                <a:ext uri="{FF2B5EF4-FFF2-40B4-BE49-F238E27FC236}">
                  <a16:creationId xmlns:a16="http://schemas.microsoft.com/office/drawing/2014/main" id="{8E872330-2BB5-ADE8-B5D8-267329BC5A7C}"/>
                </a:ext>
              </a:extLst>
            </p:cNvPr>
            <p:cNvGrpSpPr/>
            <p:nvPr/>
          </p:nvGrpSpPr>
          <p:grpSpPr>
            <a:xfrm>
              <a:off x="3798053" y="251455"/>
              <a:ext cx="5791425" cy="5058705"/>
              <a:chOff x="4036699" y="327625"/>
              <a:chExt cx="5791425" cy="5058705"/>
            </a:xfrm>
          </p:grpSpPr>
          <p:grpSp>
            <p:nvGrpSpPr>
              <p:cNvPr id="106" name="组合 105">
                <a:extLst>
                  <a:ext uri="{FF2B5EF4-FFF2-40B4-BE49-F238E27FC236}">
                    <a16:creationId xmlns:a16="http://schemas.microsoft.com/office/drawing/2014/main" id="{5128DCD2-CC6C-EE25-243F-AEE3B7CBE44C}"/>
                  </a:ext>
                </a:extLst>
              </p:cNvPr>
              <p:cNvGrpSpPr/>
              <p:nvPr/>
            </p:nvGrpSpPr>
            <p:grpSpPr>
              <a:xfrm>
                <a:off x="4257624" y="327625"/>
                <a:ext cx="5570500" cy="5058705"/>
                <a:chOff x="3850469" y="326086"/>
                <a:chExt cx="5570500" cy="5058705"/>
              </a:xfrm>
            </p:grpSpPr>
            <p:grpSp>
              <p:nvGrpSpPr>
                <p:cNvPr id="40" name="组合 39">
                  <a:extLst>
                    <a:ext uri="{FF2B5EF4-FFF2-40B4-BE49-F238E27FC236}">
                      <a16:creationId xmlns:a16="http://schemas.microsoft.com/office/drawing/2014/main" id="{8A306F17-C656-347C-178A-DB1D4B0564A8}"/>
                    </a:ext>
                  </a:extLst>
                </p:cNvPr>
                <p:cNvGrpSpPr/>
                <p:nvPr/>
              </p:nvGrpSpPr>
              <p:grpSpPr>
                <a:xfrm>
                  <a:off x="4018978" y="326086"/>
                  <a:ext cx="5401991" cy="3839903"/>
                  <a:chOff x="5625045" y="817200"/>
                  <a:chExt cx="5401991" cy="3513687"/>
                </a:xfrm>
              </p:grpSpPr>
              <p:sp>
                <p:nvSpPr>
                  <p:cNvPr id="27" name="圆角矩形 26">
                    <a:extLst>
                      <a:ext uri="{FF2B5EF4-FFF2-40B4-BE49-F238E27FC236}">
                        <a16:creationId xmlns:a16="http://schemas.microsoft.com/office/drawing/2014/main" id="{CE5A1041-88F4-EC2E-E880-B91A3150A290}"/>
                      </a:ext>
                    </a:extLst>
                  </p:cNvPr>
                  <p:cNvSpPr/>
                  <p:nvPr/>
                </p:nvSpPr>
                <p:spPr>
                  <a:xfrm>
                    <a:off x="6096002" y="817200"/>
                    <a:ext cx="4931034" cy="3513687"/>
                  </a:xfrm>
                  <a:prstGeom prst="roundRect">
                    <a:avLst>
                      <a:gd name="adj" fmla="val 10435"/>
                    </a:avLst>
                  </a:prstGeom>
                  <a:solidFill>
                    <a:schemeClr val="accent5">
                      <a:lumMod val="60000"/>
                      <a:lumOff val="40000"/>
                      <a:alpha val="1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33" name="组合 32">
                    <a:extLst>
                      <a:ext uri="{FF2B5EF4-FFF2-40B4-BE49-F238E27FC236}">
                        <a16:creationId xmlns:a16="http://schemas.microsoft.com/office/drawing/2014/main" id="{DB2440B8-931A-ED39-8656-EF2144CB59DE}"/>
                      </a:ext>
                    </a:extLst>
                  </p:cNvPr>
                  <p:cNvGrpSpPr/>
                  <p:nvPr/>
                </p:nvGrpSpPr>
                <p:grpSpPr>
                  <a:xfrm>
                    <a:off x="5625045" y="1683180"/>
                    <a:ext cx="417596" cy="1941473"/>
                    <a:chOff x="6233737" y="2051114"/>
                    <a:chExt cx="417596" cy="2315710"/>
                  </a:xfrm>
                </p:grpSpPr>
                <p:sp>
                  <p:nvSpPr>
                    <p:cNvPr id="18" name="圆角矩形 17">
                      <a:extLst>
                        <a:ext uri="{FF2B5EF4-FFF2-40B4-BE49-F238E27FC236}">
                          <a16:creationId xmlns:a16="http://schemas.microsoft.com/office/drawing/2014/main" id="{152CF952-0BBF-7DA7-D375-3ED4BF20C333}"/>
                        </a:ext>
                      </a:extLst>
                    </p:cNvPr>
                    <p:cNvSpPr/>
                    <p:nvPr/>
                  </p:nvSpPr>
                  <p:spPr>
                    <a:xfrm>
                      <a:off x="6233737" y="2051114"/>
                      <a:ext cx="409690" cy="2315710"/>
                    </a:xfrm>
                    <a:prstGeom prst="roundRect">
                      <a:avLst>
                        <a:gd name="adj" fmla="val 10685"/>
                      </a:avLst>
                    </a:prstGeom>
                    <a:solidFill>
                      <a:schemeClr val="bg1"/>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24" name="图形 23" descr="机器人 纯色填充">
                      <a:extLst>
                        <a:ext uri="{FF2B5EF4-FFF2-40B4-BE49-F238E27FC236}">
                          <a16:creationId xmlns:a16="http://schemas.microsoft.com/office/drawing/2014/main" id="{B6BF5DC9-357E-E355-88DE-84F0CCB32CD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42470" y="2173895"/>
                      <a:ext cx="408863" cy="408864"/>
                    </a:xfrm>
                    <a:prstGeom prst="rect">
                      <a:avLst/>
                    </a:prstGeom>
                  </p:spPr>
                </p:pic>
              </p:grpSp>
              <p:sp>
                <p:nvSpPr>
                  <p:cNvPr id="36" name="文本框 35">
                    <a:extLst>
                      <a:ext uri="{FF2B5EF4-FFF2-40B4-BE49-F238E27FC236}">
                        <a16:creationId xmlns:a16="http://schemas.microsoft.com/office/drawing/2014/main" id="{FAA29435-BC85-6370-ABF6-29F57ACB656B}"/>
                      </a:ext>
                    </a:extLst>
                  </p:cNvPr>
                  <p:cNvSpPr txBox="1"/>
                  <p:nvPr/>
                </p:nvSpPr>
                <p:spPr>
                  <a:xfrm>
                    <a:off x="6704548" y="879676"/>
                    <a:ext cx="2762768" cy="374817"/>
                  </a:xfrm>
                  <a:prstGeom prst="rect">
                    <a:avLst/>
                  </a:prstGeom>
                  <a:noFill/>
                </p:spPr>
                <p:txBody>
                  <a:bodyPr wrap="square" rtlCol="0">
                    <a:spAutoFit/>
                  </a:bodyPr>
                  <a:lstStyle/>
                  <a:p>
                    <a:r>
                      <a:rPr kumimoji="1" lang="en-US" altLang="zh-CN" sz="1600" b="1" dirty="0">
                        <a:latin typeface="Andale Mono" panose="020B0509000000000004" pitchFamily="49" charset="0"/>
                      </a:rPr>
                      <a:t>Model Response (</a:t>
                    </a:r>
                    <a:r>
                      <a:rPr kumimoji="1" lang="en-US" altLang="zh-CN" sz="1600" b="1" dirty="0" err="1">
                        <a:latin typeface="Andale Mono" panose="020B0509000000000004" pitchFamily="49" charset="0"/>
                      </a:rPr>
                      <a:t>CoT</a:t>
                    </a:r>
                    <a:r>
                      <a:rPr kumimoji="1" lang="en-US" altLang="zh-CN" sz="1600" b="1" dirty="0">
                        <a:latin typeface="Andale Mono" panose="020B0509000000000004" pitchFamily="49" charset="0"/>
                      </a:rPr>
                      <a:t>)</a:t>
                    </a:r>
                    <a:endParaRPr kumimoji="1" lang="zh-CN" altLang="en-US" sz="1600" b="1" dirty="0">
                      <a:latin typeface="Andale Mono" panose="020B0509000000000004" pitchFamily="49" charset="0"/>
                    </a:endParaRPr>
                  </a:p>
                </p:txBody>
              </p:sp>
              <p:pic>
                <p:nvPicPr>
                  <p:cNvPr id="20" name="图形 19" descr="大脑 纯色填充">
                    <a:extLst>
                      <a:ext uri="{FF2B5EF4-FFF2-40B4-BE49-F238E27FC236}">
                        <a16:creationId xmlns:a16="http://schemas.microsoft.com/office/drawing/2014/main" id="{1B2C9D0F-6476-7BC9-3AAC-3120D41FDF4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327580" y="864937"/>
                    <a:ext cx="379736" cy="379736"/>
                  </a:xfrm>
                  <a:prstGeom prst="rect">
                    <a:avLst/>
                  </a:prstGeom>
                </p:spPr>
              </p:pic>
            </p:grpSp>
            <p:cxnSp>
              <p:nvCxnSpPr>
                <p:cNvPr id="78" name="曲线连接符 77">
                  <a:extLst>
                    <a:ext uri="{FF2B5EF4-FFF2-40B4-BE49-F238E27FC236}">
                      <a16:creationId xmlns:a16="http://schemas.microsoft.com/office/drawing/2014/main" id="{A7E16BF0-0D13-BF31-4612-B01051FC049B}"/>
                    </a:ext>
                  </a:extLst>
                </p:cNvPr>
                <p:cNvCxnSpPr>
                  <a:cxnSpLocks/>
                </p:cNvCxnSpPr>
                <p:nvPr/>
              </p:nvCxnSpPr>
              <p:spPr>
                <a:xfrm rot="10800000" flipV="1">
                  <a:off x="3850469" y="3566385"/>
                  <a:ext cx="435192" cy="384789"/>
                </a:xfrm>
                <a:prstGeom prst="curvedConnector3">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86" name="直线箭头连接符 85">
                  <a:extLst>
                    <a:ext uri="{FF2B5EF4-FFF2-40B4-BE49-F238E27FC236}">
                      <a16:creationId xmlns:a16="http://schemas.microsoft.com/office/drawing/2014/main" id="{39F9323A-27BA-A7F1-B0C2-4EECAC68CC01}"/>
                    </a:ext>
                  </a:extLst>
                </p:cNvPr>
                <p:cNvCxnSpPr>
                  <a:cxnSpLocks/>
                </p:cNvCxnSpPr>
                <p:nvPr/>
              </p:nvCxnSpPr>
              <p:spPr>
                <a:xfrm flipV="1">
                  <a:off x="3883480" y="5380680"/>
                  <a:ext cx="420892" cy="411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 name="圆角矩形 86">
                  <a:extLst>
                    <a:ext uri="{FF2B5EF4-FFF2-40B4-BE49-F238E27FC236}">
                      <a16:creationId xmlns:a16="http://schemas.microsoft.com/office/drawing/2014/main" id="{69826CCB-765E-AB7B-D248-06ABC8C6B4B9}"/>
                    </a:ext>
                  </a:extLst>
                </p:cNvPr>
                <p:cNvSpPr/>
                <p:nvPr/>
              </p:nvSpPr>
              <p:spPr>
                <a:xfrm>
                  <a:off x="4667634" y="822035"/>
                  <a:ext cx="4425390" cy="4247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8" name="圆角矩形 87">
                  <a:extLst>
                    <a:ext uri="{FF2B5EF4-FFF2-40B4-BE49-F238E27FC236}">
                      <a16:creationId xmlns:a16="http://schemas.microsoft.com/office/drawing/2014/main" id="{E7EA8131-9FC6-E8B5-0884-F5225513159E}"/>
                    </a:ext>
                  </a:extLst>
                </p:cNvPr>
                <p:cNvSpPr/>
                <p:nvPr/>
              </p:nvSpPr>
              <p:spPr>
                <a:xfrm>
                  <a:off x="4661799" y="1352349"/>
                  <a:ext cx="4431225" cy="4247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0" name="圆角矩形 89">
                  <a:extLst>
                    <a:ext uri="{FF2B5EF4-FFF2-40B4-BE49-F238E27FC236}">
                      <a16:creationId xmlns:a16="http://schemas.microsoft.com/office/drawing/2014/main" id="{A4E6780C-CFBA-0A13-0A3B-394685B5C9AA}"/>
                    </a:ext>
                  </a:extLst>
                </p:cNvPr>
                <p:cNvSpPr/>
                <p:nvPr/>
              </p:nvSpPr>
              <p:spPr>
                <a:xfrm>
                  <a:off x="4667636" y="2377568"/>
                  <a:ext cx="4431226" cy="80205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2" name="图形 91" descr="头上的大脑 纯色填充">
                  <a:extLst>
                    <a:ext uri="{FF2B5EF4-FFF2-40B4-BE49-F238E27FC236}">
                      <a16:creationId xmlns:a16="http://schemas.microsoft.com/office/drawing/2014/main" id="{2AD70495-3505-4B74-F58F-D3223FA894D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04431" y="872169"/>
                  <a:ext cx="324519" cy="324519"/>
                </a:xfrm>
                <a:prstGeom prst="rect">
                  <a:avLst/>
                </a:prstGeom>
              </p:spPr>
            </p:pic>
            <p:sp>
              <p:nvSpPr>
                <p:cNvPr id="93" name="Rectangle 1">
                  <a:extLst>
                    <a:ext uri="{FF2B5EF4-FFF2-40B4-BE49-F238E27FC236}">
                      <a16:creationId xmlns:a16="http://schemas.microsoft.com/office/drawing/2014/main" id="{E6FC5A93-B6C1-DD20-7066-F686F65E2957}"/>
                    </a:ext>
                  </a:extLst>
                </p:cNvPr>
                <p:cNvSpPr>
                  <a:spLocks noChangeArrowheads="1"/>
                </p:cNvSpPr>
                <p:nvPr/>
              </p:nvSpPr>
              <p:spPr bwMode="auto">
                <a:xfrm>
                  <a:off x="5028950" y="794393"/>
                  <a:ext cx="35296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chemeClr val="accent6"/>
                      </a:solidFill>
                      <a:effectLst/>
                      <a:latin typeface="Times New Roman" panose="02020603050405020304" pitchFamily="18" charset="0"/>
                      <a:cs typeface="Times New Roman" panose="02020603050405020304" pitchFamily="18" charset="0"/>
                    </a:rPr>
                    <a:t>Step 1</a:t>
                  </a:r>
                  <a:r>
                    <a:rPr kumimoji="0" lang="zh-CN" altLang="zh-CN"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Determine the angles of right triangle ABC.</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In </a:t>
                  </a: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ΔABC</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a:t>
                  </a: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∠ACB=90∘</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a:t>
                  </a: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∠CAB=60∘</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so </a:t>
                  </a: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∠CBA=30∘</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a:t>
                  </a:r>
                  <a:endParaRPr kumimoji="0" lang="zh-CN" altLang="zh-CN"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4" name="Rectangle 2">
                  <a:extLst>
                    <a:ext uri="{FF2B5EF4-FFF2-40B4-BE49-F238E27FC236}">
                      <a16:creationId xmlns:a16="http://schemas.microsoft.com/office/drawing/2014/main" id="{5A5A4B8C-439E-A167-3257-419E76DCCD8B}"/>
                    </a:ext>
                  </a:extLst>
                </p:cNvPr>
                <p:cNvSpPr>
                  <a:spLocks noChangeArrowheads="1"/>
                </p:cNvSpPr>
                <p:nvPr/>
              </p:nvSpPr>
              <p:spPr bwMode="auto">
                <a:xfrm>
                  <a:off x="4987711" y="1313779"/>
                  <a:ext cx="38951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200" b="1" dirty="0">
                      <a:solidFill>
                        <a:schemeClr val="accent6"/>
                      </a:solidFill>
                      <a:latin typeface="Times New Roman" panose="02020603050405020304" pitchFamily="18" charset="0"/>
                      <a:cs typeface="Times New Roman" panose="02020603050405020304" pitchFamily="18" charset="0"/>
                    </a:rPr>
                    <a:t>Step 2 </a:t>
                  </a:r>
                  <a:r>
                    <a:rPr lang="zh-CN" altLang="zh-CN" sz="1200" b="1" dirty="0">
                      <a:latin typeface="Times New Roman" panose="02020603050405020304" pitchFamily="18" charset="0"/>
                      <a:cs typeface="Times New Roman" panose="02020603050405020304" pitchFamily="18" charset="0"/>
                    </a:rPr>
                    <a:t>Use the angle bisection property to find ∠CAG.</a:t>
                  </a:r>
                  <a:endParaRPr lang="en-US" altLang="zh-CN" sz="1200" b="1"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zh-CN" altLang="zh-CN" sz="1200" b="1" dirty="0">
                      <a:latin typeface="Times New Roman" panose="02020603050405020304" pitchFamily="18" charset="0"/>
                      <a:cs typeface="Times New Roman" panose="02020603050405020304" pitchFamily="18" charset="0"/>
                    </a:rPr>
                    <a:t> </a:t>
                  </a:r>
                  <a:r>
                    <a:rPr lang="zh-CN" altLang="zh-CN" sz="1200" dirty="0">
                      <a:latin typeface="Times New Roman" panose="02020603050405020304" pitchFamily="18" charset="0"/>
                      <a:cs typeface="Times New Roman" panose="02020603050405020304" pitchFamily="18" charset="0"/>
                    </a:rPr>
                    <a:t>AB bisects ∠CAG⇒∠CAB=∠BAG=60∘, so ∠CAG=120∘.</a:t>
                  </a:r>
                </a:p>
              </p:txBody>
            </p:sp>
            <p:pic>
              <p:nvPicPr>
                <p:cNvPr id="95" name="图形 94" descr="头上的大脑 纯色填充">
                  <a:extLst>
                    <a:ext uri="{FF2B5EF4-FFF2-40B4-BE49-F238E27FC236}">
                      <a16:creationId xmlns:a16="http://schemas.microsoft.com/office/drawing/2014/main" id="{44476D19-4BC4-BC47-5FA9-F1FA3A2C691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98000" y="1381369"/>
                  <a:ext cx="324519" cy="324519"/>
                </a:xfrm>
                <a:prstGeom prst="rect">
                  <a:avLst/>
                </a:prstGeom>
              </p:spPr>
            </p:pic>
            <p:grpSp>
              <p:nvGrpSpPr>
                <p:cNvPr id="98" name="组合 97">
                  <a:extLst>
                    <a:ext uri="{FF2B5EF4-FFF2-40B4-BE49-F238E27FC236}">
                      <a16:creationId xmlns:a16="http://schemas.microsoft.com/office/drawing/2014/main" id="{ED5C4E12-2353-C1DD-D936-549B392036F3}"/>
                    </a:ext>
                  </a:extLst>
                </p:cNvPr>
                <p:cNvGrpSpPr/>
                <p:nvPr/>
              </p:nvGrpSpPr>
              <p:grpSpPr>
                <a:xfrm>
                  <a:off x="4667636" y="1862926"/>
                  <a:ext cx="4431226" cy="424788"/>
                  <a:chOff x="4667637" y="1891589"/>
                  <a:chExt cx="4504634" cy="424788"/>
                </a:xfrm>
              </p:grpSpPr>
              <p:sp>
                <p:nvSpPr>
                  <p:cNvPr id="89" name="圆角矩形 88">
                    <a:extLst>
                      <a:ext uri="{FF2B5EF4-FFF2-40B4-BE49-F238E27FC236}">
                        <a16:creationId xmlns:a16="http://schemas.microsoft.com/office/drawing/2014/main" id="{76B9480C-6CF3-ED75-6A37-811B0AE53F81}"/>
                      </a:ext>
                    </a:extLst>
                  </p:cNvPr>
                  <p:cNvSpPr/>
                  <p:nvPr/>
                </p:nvSpPr>
                <p:spPr>
                  <a:xfrm>
                    <a:off x="4667637" y="1891589"/>
                    <a:ext cx="4504634" cy="4247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96" name="图形 95" descr="头上的大脑 纯色填充">
                    <a:extLst>
                      <a:ext uri="{FF2B5EF4-FFF2-40B4-BE49-F238E27FC236}">
                        <a16:creationId xmlns:a16="http://schemas.microsoft.com/office/drawing/2014/main" id="{963A6B99-E9D5-F575-0DAE-12A8C826EE6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90045" y="1932389"/>
                    <a:ext cx="324519" cy="324519"/>
                  </a:xfrm>
                  <a:prstGeom prst="rect">
                    <a:avLst/>
                  </a:prstGeom>
                </p:spPr>
              </p:pic>
            </p:grpSp>
            <p:sp>
              <p:nvSpPr>
                <p:cNvPr id="99" name="Rectangle 3">
                  <a:extLst>
                    <a:ext uri="{FF2B5EF4-FFF2-40B4-BE49-F238E27FC236}">
                      <a16:creationId xmlns:a16="http://schemas.microsoft.com/office/drawing/2014/main" id="{4F7D2101-53F4-5D71-E96D-CC3FF3ADF822}"/>
                    </a:ext>
                  </a:extLst>
                </p:cNvPr>
                <p:cNvSpPr>
                  <a:spLocks noChangeArrowheads="1"/>
                </p:cNvSpPr>
                <p:nvPr/>
              </p:nvSpPr>
              <p:spPr bwMode="auto">
                <a:xfrm>
                  <a:off x="4992990" y="1854021"/>
                  <a:ext cx="41058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chemeClr val="accent6"/>
                      </a:solidFill>
                      <a:effectLst/>
                      <a:latin typeface="Times New Roman" panose="02020603050405020304" pitchFamily="18" charset="0"/>
                      <a:cs typeface="Times New Roman" panose="02020603050405020304" pitchFamily="18" charset="0"/>
                    </a:rPr>
                    <a:t>Step 3</a:t>
                  </a:r>
                  <a:r>
                    <a:rPr kumimoji="0" lang="zh-CN" altLang="zh-CN"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Use the parallel lines property to find ∠ACH.</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FG∥DE⇒∠CAG+∠ACE=180∘⇒∠ACE=60∘</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so </a:t>
                  </a: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∠ACH=60∘</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a:t>
                  </a:r>
                  <a:endParaRPr kumimoji="0" lang="zh-CN" altLang="zh-CN"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0" name="Rectangle 4">
                  <a:extLst>
                    <a:ext uri="{FF2B5EF4-FFF2-40B4-BE49-F238E27FC236}">
                      <a16:creationId xmlns:a16="http://schemas.microsoft.com/office/drawing/2014/main" id="{91CC8DC6-E0D8-1981-4062-B49E763FDEF0}"/>
                    </a:ext>
                  </a:extLst>
                </p:cNvPr>
                <p:cNvSpPr>
                  <a:spLocks noChangeArrowheads="1"/>
                </p:cNvSpPr>
                <p:nvPr/>
              </p:nvSpPr>
              <p:spPr bwMode="auto">
                <a:xfrm>
                  <a:off x="5004375" y="2351763"/>
                  <a:ext cx="38996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Step 4 (visual description error)</a:t>
                  </a:r>
                  <a:r>
                    <a:rPr kumimoji="0" lang="zh-CN" altLang="zh-CN" sz="1200" b="0" i="0" u="none" strike="noStrike" cap="none" normalizeH="0" baseline="0" dirty="0">
                      <a:ln>
                        <a:noFill/>
                      </a:ln>
                      <a:solidFill>
                        <a:srgbClr val="C00000"/>
                      </a:solidFill>
                      <a:effectLst/>
                      <a:latin typeface="Times New Roman" panose="02020603050405020304" pitchFamily="18" charset="0"/>
                      <a:ea typeface="-webkit-standard"/>
                      <a:cs typeface="Times New Roman" panose="02020603050405020304" pitchFamily="18" charset="0"/>
                    </a:rPr>
                    <a:t> </a:t>
                  </a:r>
                  <a:endParaRPr kumimoji="0" lang="en-US" altLang="zh-CN" sz="1200" b="0" i="0" u="none" strike="noStrike" cap="none" normalizeH="0" baseline="0" dirty="0">
                    <a:ln>
                      <a:noFill/>
                    </a:ln>
                    <a:solidFill>
                      <a:srgbClr val="C00000"/>
                    </a:solidFill>
                    <a:effectLst/>
                    <a:latin typeface="Times New Roman" panose="02020603050405020304" pitchFamily="18" charset="0"/>
                    <a:ea typeface="-webkit-standard"/>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Calculate </a:t>
                  </a:r>
                  <a:r>
                    <a:rPr kumimoji="0" lang="zh-CN" altLang="zh-CN"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∠BCH</a:t>
                  </a:r>
                  <a:r>
                    <a:rPr kumimoji="0" lang="zh-CN" altLang="zh-CN" sz="1200" b="1"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using the angles around point C. </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Describes ray CA as pointing downward and </a:t>
                  </a:r>
                  <a:r>
                    <a:rPr kumimoji="0" lang="zh-CN" altLang="zh-CN"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the left</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 from C. (Actually it points downward and </a:t>
                  </a:r>
                  <a:r>
                    <a:rPr kumimoji="0" lang="zh-CN" altLang="zh-CN"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 the right</a:t>
                  </a:r>
                  <a:r>
                    <a:rPr kumimoji="0" lang="zh-CN" altLang="zh-CN" sz="1200" b="0"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a:t>
                  </a:r>
                  <a:endParaRPr kumimoji="0" lang="zh-CN" altLang="zh-CN"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2" name="图形 101" descr="眼睛 纯色填充">
                  <a:extLst>
                    <a:ext uri="{FF2B5EF4-FFF2-40B4-BE49-F238E27FC236}">
                      <a16:creationId xmlns:a16="http://schemas.microsoft.com/office/drawing/2014/main" id="{B4A60B26-5EAD-93FC-1461-C176D3D9083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79387" y="2579941"/>
                  <a:ext cx="401889" cy="401889"/>
                </a:xfrm>
                <a:prstGeom prst="rect">
                  <a:avLst/>
                </a:prstGeom>
              </p:spPr>
            </p:pic>
            <p:sp>
              <p:nvSpPr>
                <p:cNvPr id="103" name="圆角矩形 102">
                  <a:extLst>
                    <a:ext uri="{FF2B5EF4-FFF2-40B4-BE49-F238E27FC236}">
                      <a16:creationId xmlns:a16="http://schemas.microsoft.com/office/drawing/2014/main" id="{823C4D6B-0628-415E-5203-B13546CDAD20}"/>
                    </a:ext>
                  </a:extLst>
                </p:cNvPr>
                <p:cNvSpPr/>
                <p:nvPr/>
              </p:nvSpPr>
              <p:spPr>
                <a:xfrm>
                  <a:off x="4667634" y="3280604"/>
                  <a:ext cx="4431228" cy="4247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Rectangle 5">
                  <a:extLst>
                    <a:ext uri="{FF2B5EF4-FFF2-40B4-BE49-F238E27FC236}">
                      <a16:creationId xmlns:a16="http://schemas.microsoft.com/office/drawing/2014/main" id="{BB47E51C-6FFE-C5F7-21C9-71432C06B4BD}"/>
                    </a:ext>
                  </a:extLst>
                </p:cNvPr>
                <p:cNvSpPr>
                  <a:spLocks noChangeArrowheads="1"/>
                </p:cNvSpPr>
                <p:nvPr/>
              </p:nvSpPr>
              <p:spPr bwMode="auto">
                <a:xfrm>
                  <a:off x="5029749" y="3362517"/>
                  <a:ext cx="17801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chemeClr val="accent6"/>
                      </a:solidFill>
                      <a:effectLst/>
                      <a:latin typeface="Times New Roman" panose="02020603050405020304" pitchFamily="18" charset="0"/>
                      <a:ea typeface="-webkit-standard"/>
                      <a:cs typeface="Times New Roman" panose="02020603050405020304" pitchFamily="18" charset="0"/>
                    </a:rPr>
                    <a:t>Step 5 </a:t>
                  </a:r>
                  <a:r>
                    <a:rPr kumimoji="0" lang="zh-CN" altLang="zh-CN" sz="1200" b="1"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Thus </a:t>
                  </a:r>
                  <a:r>
                    <a:rPr kumimoji="0" lang="zh-CN" altLang="zh-CN" sz="1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∠BCH=30∘</a:t>
                  </a:r>
                  <a:r>
                    <a:rPr kumimoji="0" lang="zh-CN" altLang="zh-CN" sz="1200" b="1" i="0" u="none" strike="noStrike" cap="none" normalizeH="0" baseline="0" dirty="0">
                      <a:ln>
                        <a:noFill/>
                      </a:ln>
                      <a:solidFill>
                        <a:srgbClr val="000000"/>
                      </a:solidFill>
                      <a:effectLst/>
                      <a:latin typeface="Times New Roman" panose="02020603050405020304" pitchFamily="18" charset="0"/>
                      <a:ea typeface="-webkit-standard"/>
                      <a:cs typeface="Times New Roman" panose="02020603050405020304" pitchFamily="18" charset="0"/>
                    </a:rPr>
                    <a:t>.</a:t>
                  </a:r>
                  <a:endParaRPr kumimoji="0" lang="zh-CN" altLang="zh-CN"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5" name="图形 104" descr="头上的大脑 纯色填充">
                  <a:extLst>
                    <a:ext uri="{FF2B5EF4-FFF2-40B4-BE49-F238E27FC236}">
                      <a16:creationId xmlns:a16="http://schemas.microsoft.com/office/drawing/2014/main" id="{49453D01-A267-93E6-06B1-F03779B914B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42529" y="3330738"/>
                  <a:ext cx="319231" cy="324519"/>
                </a:xfrm>
                <a:prstGeom prst="rect">
                  <a:avLst/>
                </a:prstGeom>
              </p:spPr>
            </p:pic>
          </p:grpSp>
          <p:sp>
            <p:nvSpPr>
              <p:cNvPr id="82" name="文本框 81">
                <a:extLst>
                  <a:ext uri="{FF2B5EF4-FFF2-40B4-BE49-F238E27FC236}">
                    <a16:creationId xmlns:a16="http://schemas.microsoft.com/office/drawing/2014/main" id="{113B7F66-B39B-EC1A-FA1A-D1BE25A3D4D5}"/>
                  </a:ext>
                </a:extLst>
              </p:cNvPr>
              <p:cNvSpPr txBox="1"/>
              <p:nvPr/>
            </p:nvSpPr>
            <p:spPr>
              <a:xfrm>
                <a:off x="4036699" y="1813666"/>
                <a:ext cx="830997" cy="1556278"/>
              </a:xfrm>
              <a:prstGeom prst="rect">
                <a:avLst/>
              </a:prstGeom>
              <a:noFill/>
            </p:spPr>
            <p:txBody>
              <a:bodyPr vert="eaVert" wrap="square" rtlCol="0">
                <a:spAutoFit/>
              </a:bodyPr>
              <a:lstStyle/>
              <a:p>
                <a:r>
                  <a:rPr kumimoji="1" lang="en-US" altLang="zh-CN" b="1" dirty="0">
                    <a:latin typeface="Andale Mono" panose="020B0509000000000004" pitchFamily="49" charset="0"/>
                  </a:rPr>
                  <a:t>Test Model</a:t>
                </a:r>
                <a:endParaRPr kumimoji="1" lang="zh-CN" altLang="en-US" b="1" dirty="0">
                  <a:latin typeface="Andale Mono" panose="020B0509000000000004" pitchFamily="49" charset="0"/>
                </a:endParaRPr>
              </a:p>
              <a:p>
                <a:endParaRPr kumimoji="1" lang="zh-CN" altLang="en-US" sz="2400" dirty="0"/>
              </a:p>
            </p:txBody>
          </p:sp>
        </p:grpSp>
        <p:sp>
          <p:nvSpPr>
            <p:cNvPr id="113" name="文本框 112">
              <a:extLst>
                <a:ext uri="{FF2B5EF4-FFF2-40B4-BE49-F238E27FC236}">
                  <a16:creationId xmlns:a16="http://schemas.microsoft.com/office/drawing/2014/main" id="{3899E20D-796C-2780-D1E3-6B750F19D1FA}"/>
                </a:ext>
              </a:extLst>
            </p:cNvPr>
            <p:cNvSpPr txBox="1"/>
            <p:nvPr/>
          </p:nvSpPr>
          <p:spPr>
            <a:xfrm>
              <a:off x="5983943" y="3691798"/>
              <a:ext cx="2743200" cy="369332"/>
            </a:xfrm>
            <a:prstGeom prst="rect">
              <a:avLst/>
            </a:prstGeom>
            <a:noFill/>
          </p:spPr>
          <p:txBody>
            <a:bodyPr wrap="square" rtlCol="0">
              <a:spAutoFit/>
            </a:bodyPr>
            <a:lstStyle/>
            <a:p>
              <a:r>
                <a:rPr kumimoji="1" lang="en-US" altLang="zh-CN" dirty="0">
                  <a:solidFill>
                    <a:schemeClr val="accent6"/>
                  </a:solidFill>
                  <a:latin typeface="Andale Mono" panose="020B0509000000000004" pitchFamily="49" charset="0"/>
                </a:rPr>
                <a:t>Final</a:t>
              </a:r>
              <a:r>
                <a:rPr kumimoji="1" lang="zh-CN" altLang="en-US" dirty="0">
                  <a:solidFill>
                    <a:schemeClr val="accent6"/>
                  </a:solidFill>
                  <a:latin typeface="Andale Mono" panose="020B0509000000000004" pitchFamily="49" charset="0"/>
                </a:rPr>
                <a:t> </a:t>
              </a:r>
              <a:r>
                <a:rPr kumimoji="1" lang="en-US" altLang="zh-CN" dirty="0">
                  <a:solidFill>
                    <a:schemeClr val="accent6"/>
                  </a:solidFill>
                  <a:latin typeface="Andale Mono" panose="020B0509000000000004" pitchFamily="49" charset="0"/>
                </a:rPr>
                <a:t>answer</a:t>
              </a:r>
              <a:r>
                <a:rPr kumimoji="1" lang="zh-CN" altLang="en-US" dirty="0">
                  <a:solidFill>
                    <a:schemeClr val="accent6"/>
                  </a:solidFill>
                  <a:latin typeface="Andale Mono" panose="020B0509000000000004" pitchFamily="49" charset="0"/>
                </a:rPr>
                <a:t>：</a:t>
              </a:r>
              <a:r>
                <a:rPr kumimoji="1" lang="en-US" altLang="zh-CN" dirty="0">
                  <a:solidFill>
                    <a:schemeClr val="accent6"/>
                  </a:solidFill>
                  <a:latin typeface="Andale Mono" panose="020B0509000000000004" pitchFamily="49" charset="0"/>
                </a:rPr>
                <a:t>C</a:t>
              </a:r>
              <a:endParaRPr kumimoji="1" lang="zh-CN" altLang="en-US" dirty="0">
                <a:solidFill>
                  <a:schemeClr val="accent6"/>
                </a:solidFill>
                <a:latin typeface="Andale Mono" panose="020B0509000000000004" pitchFamily="49" charset="0"/>
              </a:endParaRPr>
            </a:p>
          </p:txBody>
        </p:sp>
        <p:sp>
          <p:nvSpPr>
            <p:cNvPr id="114" name="乘 113">
              <a:extLst>
                <a:ext uri="{FF2B5EF4-FFF2-40B4-BE49-F238E27FC236}">
                  <a16:creationId xmlns:a16="http://schemas.microsoft.com/office/drawing/2014/main" id="{AFA5E9AC-527D-F111-0404-8A996EA08CE5}"/>
                </a:ext>
              </a:extLst>
            </p:cNvPr>
            <p:cNvSpPr/>
            <p:nvPr/>
          </p:nvSpPr>
          <p:spPr>
            <a:xfrm>
              <a:off x="8324049" y="4725975"/>
              <a:ext cx="1114413" cy="1086505"/>
            </a:xfrm>
            <a:prstGeom prst="mathMultiply">
              <a:avLst>
                <a:gd name="adj1" fmla="val 8987"/>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n w="22225">
                  <a:solidFill>
                    <a:schemeClr val="accent2"/>
                  </a:solidFill>
                  <a:prstDash val="solid"/>
                </a:ln>
                <a:solidFill>
                  <a:schemeClr val="accent2">
                    <a:lumMod val="40000"/>
                    <a:lumOff val="60000"/>
                  </a:schemeClr>
                </a:solidFill>
              </a:endParaRPr>
            </a:p>
          </p:txBody>
        </p:sp>
        <p:sp>
          <p:nvSpPr>
            <p:cNvPr id="116" name="矩形 115">
              <a:extLst>
                <a:ext uri="{FF2B5EF4-FFF2-40B4-BE49-F238E27FC236}">
                  <a16:creationId xmlns:a16="http://schemas.microsoft.com/office/drawing/2014/main" id="{F3C994AA-780D-B71E-9666-DB3C38EE746C}"/>
                </a:ext>
              </a:extLst>
            </p:cNvPr>
            <p:cNvSpPr/>
            <p:nvPr/>
          </p:nvSpPr>
          <p:spPr>
            <a:xfrm>
              <a:off x="7953349" y="5738817"/>
              <a:ext cx="1984265" cy="1077218"/>
            </a:xfrm>
            <a:prstGeom prst="rect">
              <a:avLst/>
            </a:prstGeom>
            <a:noFill/>
          </p:spPr>
          <p:txBody>
            <a:bodyPr wrap="square" lIns="91440" tIns="45720" rIns="91440" bIns="45720">
              <a:spAutoFit/>
            </a:bodyPr>
            <a:lstStyle/>
            <a:p>
              <a:pPr algn="ctr"/>
              <a:r>
                <a:rPr kumimoji="1" lang="en-US" altLang="zh-CN" sz="1600" b="1" cap="none" spc="0" dirty="0">
                  <a:ln w="0"/>
                  <a:solidFill>
                    <a:srgbClr val="C00000"/>
                  </a:solidFill>
                  <a:effectLst>
                    <a:outerShdw blurRad="38100" dist="25400" dir="5400000" algn="ctr" rotWithShape="0">
                      <a:srgbClr val="6E747A">
                        <a:alpha val="43000"/>
                      </a:srgbClr>
                    </a:outerShdw>
                  </a:effectLst>
                  <a:latin typeface="Andale Mono" panose="020B0509000000000004" pitchFamily="49" charset="0"/>
                </a:rPr>
                <a:t>Score</a:t>
              </a:r>
              <a:r>
                <a:rPr kumimoji="1" lang="en-US" altLang="zh-CN" sz="1600" b="1" dirty="0">
                  <a:ln w="0"/>
                  <a:solidFill>
                    <a:srgbClr val="C00000"/>
                  </a:solidFill>
                  <a:effectLst>
                    <a:outerShdw blurRad="38100" dist="25400" dir="5400000" algn="ctr" rotWithShape="0">
                      <a:srgbClr val="6E747A">
                        <a:alpha val="43000"/>
                      </a:srgbClr>
                    </a:outerShdw>
                  </a:effectLst>
                  <a:latin typeface="Andale Mono" panose="020B0509000000000004" pitchFamily="49" charset="0"/>
                </a:rPr>
                <a:t>:</a:t>
              </a:r>
              <a:r>
                <a:rPr kumimoji="1" lang="en-US" altLang="zh-CN" sz="1600" b="1" cap="none" spc="0" dirty="0">
                  <a:ln w="0"/>
                  <a:solidFill>
                    <a:srgbClr val="C00000"/>
                  </a:solidFill>
                  <a:effectLst>
                    <a:outerShdw blurRad="38100" dist="25400" dir="5400000" algn="ctr" rotWithShape="0">
                      <a:srgbClr val="6E747A">
                        <a:alpha val="43000"/>
                      </a:srgbClr>
                    </a:outerShdw>
                  </a:effectLst>
                  <a:latin typeface="Andale Mono" panose="020B0509000000000004" pitchFamily="49" charset="0"/>
                </a:rPr>
                <a:t>2/6</a:t>
              </a:r>
            </a:p>
            <a:p>
              <a:pPr algn="ctr"/>
              <a:r>
                <a:rPr kumimoji="1" lang="en-US" altLang="zh-CN" sz="1600" b="1" cap="none" spc="0" dirty="0">
                  <a:ln w="0"/>
                  <a:solidFill>
                    <a:srgbClr val="C00000"/>
                  </a:solidFill>
                  <a:effectLst>
                    <a:outerShdw blurRad="38100" dist="25400" dir="5400000" algn="ctr" rotWithShape="0">
                      <a:srgbClr val="6E747A">
                        <a:alpha val="43000"/>
                      </a:srgbClr>
                    </a:outerShdw>
                  </a:effectLst>
                  <a:latin typeface="Andale Mono" panose="020B0509000000000004" pitchFamily="49" charset="0"/>
                </a:rPr>
                <a:t>faithfulness</a:t>
              </a:r>
            </a:p>
            <a:p>
              <a:pPr algn="ctr"/>
              <a:endParaRPr kumimoji="1" lang="en-US" altLang="zh-CN" sz="1600" b="1" cap="none" spc="0" dirty="0">
                <a:ln w="0"/>
                <a:solidFill>
                  <a:srgbClr val="C00000"/>
                </a:solidFill>
                <a:effectLst>
                  <a:outerShdw blurRad="38100" dist="25400" dir="5400000" algn="ctr" rotWithShape="0">
                    <a:srgbClr val="6E747A">
                      <a:alpha val="43000"/>
                    </a:srgbClr>
                  </a:outerShdw>
                </a:effectLst>
                <a:latin typeface="Andale Mono" panose="020B0509000000000004" pitchFamily="49" charset="0"/>
              </a:endParaRPr>
            </a:p>
            <a:p>
              <a:pPr algn="ctr"/>
              <a:endParaRPr lang="zh-CN" altLang="en-US" sz="1600" b="1" cap="none" spc="0" dirty="0">
                <a:ln w="0"/>
                <a:solidFill>
                  <a:srgbClr val="C00000"/>
                </a:solidFill>
                <a:effectLst>
                  <a:outerShdw blurRad="38100" dist="25400" dir="5400000" algn="ctr" rotWithShape="0">
                    <a:srgbClr val="6E747A">
                      <a:alpha val="43000"/>
                    </a:srgbClr>
                  </a:outerShdw>
                </a:effectLst>
                <a:latin typeface="Andale Mono" panose="020B0509000000000004" pitchFamily="49" charset="0"/>
              </a:endParaRPr>
            </a:p>
          </p:txBody>
        </p:sp>
        <p:sp>
          <p:nvSpPr>
            <p:cNvPr id="119" name="文本框 118">
              <a:extLst>
                <a:ext uri="{FF2B5EF4-FFF2-40B4-BE49-F238E27FC236}">
                  <a16:creationId xmlns:a16="http://schemas.microsoft.com/office/drawing/2014/main" id="{8D70712F-096B-7369-10A2-248BD9C06FC2}"/>
                </a:ext>
              </a:extLst>
            </p:cNvPr>
            <p:cNvSpPr txBox="1"/>
            <p:nvPr/>
          </p:nvSpPr>
          <p:spPr>
            <a:xfrm>
              <a:off x="4815239" y="4471458"/>
              <a:ext cx="3454519" cy="2123658"/>
            </a:xfrm>
            <a:prstGeom prst="rect">
              <a:avLst/>
            </a:prstGeom>
            <a:noFill/>
          </p:spPr>
          <p:txBody>
            <a:bodyPr wrap="square">
              <a:spAutoFit/>
            </a:bodyPr>
            <a:lstStyle/>
            <a:p>
              <a:pPr>
                <a:buNone/>
              </a:pPr>
              <a:r>
                <a:rPr lang="en" altLang="zh-CN" sz="1100" b="0" dirty="0">
                  <a:effectLst/>
                  <a:latin typeface="Comic Sans MS" panose="030F0902030302020204" pitchFamily="66" charset="0"/>
                  <a:cs typeface="Times New Roman" panose="02020603050405020304" pitchFamily="18" charset="0"/>
                </a:rPr>
                <a:t>{</a:t>
              </a:r>
            </a:p>
            <a:p>
              <a:pPr>
                <a:buNone/>
              </a:pPr>
              <a:r>
                <a:rPr lang="en" altLang="zh-CN" sz="1100" b="0" dirty="0">
                  <a:effectLst/>
                  <a:latin typeface="Comic Sans MS" panose="030F0902030302020204" pitchFamily="66" charset="0"/>
                  <a:cs typeface="Times New Roman" panose="02020603050405020304" pitchFamily="18" charset="0"/>
                </a:rPr>
                <a:t>"score": 2,</a:t>
              </a:r>
            </a:p>
            <a:p>
              <a:pPr>
                <a:buNone/>
              </a:pPr>
              <a:r>
                <a:rPr lang="en" altLang="zh-CN" sz="1100" b="0" dirty="0">
                  <a:effectLst/>
                  <a:latin typeface="Comic Sans MS" panose="030F0902030302020204" pitchFamily="66" charset="0"/>
                  <a:cs typeface="Times New Roman" panose="02020603050405020304" pitchFamily="18" charset="0"/>
                </a:rPr>
                <a:t>"</a:t>
              </a:r>
              <a:r>
                <a:rPr lang="en" altLang="zh-CN" sz="1100" b="0" dirty="0" err="1">
                  <a:effectLst/>
                  <a:latin typeface="Comic Sans MS" panose="030F0902030302020204" pitchFamily="66" charset="0"/>
                  <a:cs typeface="Times New Roman" panose="02020603050405020304" pitchFamily="18" charset="0"/>
                </a:rPr>
                <a:t>has_hallucination</a:t>
              </a:r>
              <a:r>
                <a:rPr lang="en" altLang="zh-CN" sz="1100" b="0" dirty="0">
                  <a:effectLst/>
                  <a:latin typeface="Comic Sans MS" panose="030F0902030302020204" pitchFamily="66" charset="0"/>
                  <a:cs typeface="Times New Roman" panose="02020603050405020304" pitchFamily="18" charset="0"/>
                </a:rPr>
                <a:t>": true,</a:t>
              </a:r>
            </a:p>
            <a:p>
              <a:pPr>
                <a:buNone/>
              </a:pPr>
              <a:r>
                <a:rPr lang="en" altLang="zh-CN" sz="1100" b="0" dirty="0">
                  <a:effectLst/>
                  <a:latin typeface="Comic Sans MS" panose="030F0902030302020204" pitchFamily="66" charset="0"/>
                  <a:cs typeface="Times New Roman" panose="02020603050405020304" pitchFamily="18" charset="0"/>
                </a:rPr>
                <a:t>"</a:t>
              </a:r>
              <a:r>
                <a:rPr lang="en" altLang="zh-CN" sz="1100" b="0" dirty="0" err="1">
                  <a:effectLst/>
                  <a:latin typeface="Comic Sans MS" panose="030F0902030302020204" pitchFamily="66" charset="0"/>
                  <a:cs typeface="Times New Roman" panose="02020603050405020304" pitchFamily="18" charset="0"/>
                </a:rPr>
                <a:t>hallucination_type</a:t>
              </a:r>
              <a:r>
                <a:rPr lang="en" altLang="zh-CN" sz="1100" b="0" dirty="0">
                  <a:effectLst/>
                  <a:latin typeface="Comic Sans MS" panose="030F0902030302020204" pitchFamily="66" charset="0"/>
                  <a:cs typeface="Times New Roman" panose="02020603050405020304" pitchFamily="18" charset="0"/>
                </a:rPr>
                <a:t>": "faithfulness",</a:t>
              </a:r>
            </a:p>
            <a:p>
              <a:pPr>
                <a:buNone/>
              </a:pPr>
              <a:r>
                <a:rPr lang="en" altLang="zh-CN" sz="1100" b="0" dirty="0">
                  <a:effectLst/>
                  <a:latin typeface="Comic Sans MS" panose="030F0902030302020204" pitchFamily="66" charset="0"/>
                  <a:cs typeface="Times New Roman" panose="02020603050405020304" pitchFamily="18" charset="0"/>
                </a:rPr>
                <a:t>"reason": "The response gives the correct answer and mostly sound reasoning, but it incorrectly describes ray CA as pointing downward and to the left from C, whereas in the image CA points downward and to the right. This is a visual inconsistency, though it does not affect the final answer."</a:t>
              </a:r>
            </a:p>
            <a:p>
              <a:pPr>
                <a:buNone/>
              </a:pPr>
              <a:r>
                <a:rPr lang="en" altLang="zh-CN" sz="1100" b="0" dirty="0">
                  <a:effectLst/>
                  <a:latin typeface="Comic Sans MS" panose="030F0902030302020204" pitchFamily="66" charset="0"/>
                  <a:cs typeface="Times New Roman" panose="02020603050405020304" pitchFamily="18" charset="0"/>
                </a:rPr>
                <a:t>},</a:t>
              </a:r>
            </a:p>
          </p:txBody>
        </p:sp>
      </p:grpSp>
    </p:spTree>
    <p:extLst>
      <p:ext uri="{BB962C8B-B14F-4D97-AF65-F5344CB8AC3E}">
        <p14:creationId xmlns:p14="http://schemas.microsoft.com/office/powerpoint/2010/main" val="23610973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910</TotalTime>
  <Words>670</Words>
  <Application>Microsoft Macintosh PowerPoint</Application>
  <PresentationFormat>宽屏</PresentationFormat>
  <Paragraphs>48</Paragraphs>
  <Slides>7</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等线</vt:lpstr>
      <vt:lpstr>等线 Light</vt:lpstr>
      <vt:lpstr>Andale Mono</vt:lpstr>
      <vt:lpstr>Arial</vt:lpstr>
      <vt:lpstr>Comic Sans MS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祥瑞 乐</dc:creator>
  <cp:lastModifiedBy>祥瑞 乐</cp:lastModifiedBy>
  <cp:revision>8</cp:revision>
  <dcterms:created xsi:type="dcterms:W3CDTF">2026-05-19T06:54:37Z</dcterms:created>
  <dcterms:modified xsi:type="dcterms:W3CDTF">2026-05-20T16:42:51Z</dcterms:modified>
</cp:coreProperties>
</file>